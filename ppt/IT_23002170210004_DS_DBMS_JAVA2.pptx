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70" r:id="rId6"/>
    <p:sldId id="271" r:id="rId7"/>
    <p:sldId id="260" r:id="rId8"/>
    <p:sldId id="261" r:id="rId9"/>
    <p:sldId id="262" r:id="rId10"/>
    <p:sldId id="263" r:id="rId11"/>
    <p:sldId id="264" r:id="rId12"/>
    <p:sldId id="265" r:id="rId13"/>
    <p:sldId id="266" r:id="rId14"/>
    <p:sldId id="267" r:id="rId15"/>
    <p:sldId id="268" r:id="rId16"/>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27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40470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89079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27488" y="2731175"/>
            <a:ext cx="4919305" cy="2767132"/>
          </a:xfrm>
          <a:prstGeom prst="rect">
            <a:avLst/>
          </a:prstGeom>
        </p:spPr>
      </p:pic>
      <p:sp>
        <p:nvSpPr>
          <p:cNvPr id="6" name="Text 2"/>
          <p:cNvSpPr/>
          <p:nvPr/>
        </p:nvSpPr>
        <p:spPr>
          <a:xfrm>
            <a:off x="793790" y="1305878"/>
            <a:ext cx="7556421" cy="2934653"/>
          </a:xfrm>
          <a:prstGeom prst="rect">
            <a:avLst/>
          </a:prstGeom>
          <a:noFill/>
          <a:ln/>
        </p:spPr>
        <p:txBody>
          <a:bodyPr wrap="square" rtlCol="0" anchor="t"/>
          <a:lstStyle/>
          <a:p>
            <a:pPr marL="0" indent="0">
              <a:lnSpc>
                <a:spcPts val="7702"/>
              </a:lnSpc>
              <a:buNone/>
            </a:pPr>
            <a:r>
              <a:rPr lang="en-US" sz="6162" dirty="0">
                <a:solidFill>
                  <a:srgbClr val="161613"/>
                </a:solidFill>
                <a:latin typeface="DM Sans" pitchFamily="34" charset="0"/>
                <a:ea typeface="DM Sans" pitchFamily="34" charset="-122"/>
                <a:cs typeface="DM Sans" pitchFamily="34" charset="-120"/>
              </a:rPr>
              <a:t>Budget Buddy: Your Personal Finance Companion</a:t>
            </a:r>
            <a:endParaRPr lang="en-US" sz="6162" dirty="0"/>
          </a:p>
        </p:txBody>
      </p:sp>
      <p:sp>
        <p:nvSpPr>
          <p:cNvPr id="7" name="Shape 3"/>
          <p:cNvSpPr/>
          <p:nvPr/>
        </p:nvSpPr>
        <p:spPr>
          <a:xfrm>
            <a:off x="793790" y="4580692"/>
            <a:ext cx="7556421" cy="2343031"/>
          </a:xfrm>
          <a:prstGeom prst="roundRect">
            <a:avLst>
              <a:gd name="adj" fmla="val 1452"/>
            </a:avLst>
          </a:prstGeom>
          <a:solidFill>
            <a:srgbClr val="EDEBE3"/>
          </a:solidFill>
          <a:ln/>
        </p:spPr>
      </p:sp>
      <p:sp>
        <p:nvSpPr>
          <p:cNvPr id="8" name="Text 4"/>
          <p:cNvSpPr/>
          <p:nvPr/>
        </p:nvSpPr>
        <p:spPr>
          <a:xfrm>
            <a:off x="1020604" y="4807506"/>
            <a:ext cx="2835235" cy="354330"/>
          </a:xfrm>
          <a:prstGeom prst="rect">
            <a:avLst/>
          </a:prstGeom>
          <a:noFill/>
          <a:ln/>
        </p:spPr>
        <p:txBody>
          <a:bodyPr wrap="none" rtlCol="0" anchor="t"/>
          <a:lstStyle/>
          <a:p>
            <a:pPr marL="0" indent="0">
              <a:lnSpc>
                <a:spcPts val="2791"/>
              </a:lnSpc>
              <a:buNone/>
            </a:pPr>
            <a:r>
              <a:rPr lang="en-US" sz="2233" dirty="0">
                <a:solidFill>
                  <a:srgbClr val="161613"/>
                </a:solidFill>
                <a:latin typeface="DM Sans" pitchFamily="34" charset="0"/>
                <a:ea typeface="DM Sans" pitchFamily="34" charset="-122"/>
                <a:cs typeface="DM Sans" pitchFamily="34" charset="-120"/>
              </a:rPr>
              <a:t>Prepared By :-</a:t>
            </a:r>
            <a:endParaRPr lang="en-US" sz="2233" dirty="0"/>
          </a:p>
        </p:txBody>
      </p:sp>
      <p:sp>
        <p:nvSpPr>
          <p:cNvPr id="9" name="Text 5"/>
          <p:cNvSpPr/>
          <p:nvPr/>
        </p:nvSpPr>
        <p:spPr>
          <a:xfrm>
            <a:off x="1310759" y="5297924"/>
            <a:ext cx="6812637" cy="290274"/>
          </a:xfrm>
          <a:prstGeom prst="rect">
            <a:avLst/>
          </a:prstGeom>
          <a:noFill/>
          <a:ln/>
        </p:spPr>
        <p:txBody>
          <a:bodyPr wrap="none" rtlCol="0" anchor="t"/>
          <a:lstStyle/>
          <a:p>
            <a:pPr marL="342900" indent="-342900" algn="l">
              <a:lnSpc>
                <a:spcPts val="2286"/>
              </a:lnSpc>
              <a:buSzPct val="100000"/>
              <a:buChar char="•"/>
            </a:pPr>
            <a:r>
              <a:rPr lang="en-US" sz="1429" dirty="0">
                <a:solidFill>
                  <a:srgbClr val="161613"/>
                </a:solidFill>
                <a:latin typeface="Inter" pitchFamily="34" charset="0"/>
                <a:ea typeface="Inter" pitchFamily="34" charset="-122"/>
                <a:cs typeface="Inter" pitchFamily="34" charset="-120"/>
              </a:rPr>
              <a:t>Name :- Amipara Rimal                                 </a:t>
            </a:r>
            <a:endParaRPr lang="en-US" sz="1429" dirty="0"/>
          </a:p>
        </p:txBody>
      </p:sp>
      <p:sp>
        <p:nvSpPr>
          <p:cNvPr id="10" name="Text 6"/>
          <p:cNvSpPr/>
          <p:nvPr/>
        </p:nvSpPr>
        <p:spPr>
          <a:xfrm>
            <a:off x="1310759" y="5667494"/>
            <a:ext cx="6812637" cy="290274"/>
          </a:xfrm>
          <a:prstGeom prst="rect">
            <a:avLst/>
          </a:prstGeom>
          <a:noFill/>
          <a:ln/>
        </p:spPr>
        <p:txBody>
          <a:bodyPr wrap="none" rtlCol="0" anchor="t"/>
          <a:lstStyle/>
          <a:p>
            <a:pPr marL="342900" indent="-342900" algn="l">
              <a:lnSpc>
                <a:spcPts val="2286"/>
              </a:lnSpc>
              <a:buSzPct val="100000"/>
              <a:buChar char="•"/>
            </a:pPr>
            <a:r>
              <a:rPr lang="en-US" sz="1429" dirty="0">
                <a:solidFill>
                  <a:srgbClr val="161613"/>
                </a:solidFill>
                <a:latin typeface="Inter" pitchFamily="34" charset="0"/>
                <a:ea typeface="Inter" pitchFamily="34" charset="-122"/>
                <a:cs typeface="Inter" pitchFamily="34" charset="-120"/>
              </a:rPr>
              <a:t>Roll No. :- 292</a:t>
            </a:r>
            <a:endParaRPr lang="en-US" sz="1429" dirty="0"/>
          </a:p>
        </p:txBody>
      </p:sp>
      <p:sp>
        <p:nvSpPr>
          <p:cNvPr id="11" name="Text 7"/>
          <p:cNvSpPr/>
          <p:nvPr/>
        </p:nvSpPr>
        <p:spPr>
          <a:xfrm>
            <a:off x="1310759" y="6037064"/>
            <a:ext cx="6812637" cy="290274"/>
          </a:xfrm>
          <a:prstGeom prst="rect">
            <a:avLst/>
          </a:prstGeom>
          <a:noFill/>
          <a:ln/>
        </p:spPr>
        <p:txBody>
          <a:bodyPr wrap="none" rtlCol="0" anchor="t"/>
          <a:lstStyle/>
          <a:p>
            <a:pPr marL="342900" indent="-342900" algn="l">
              <a:lnSpc>
                <a:spcPts val="2286"/>
              </a:lnSpc>
              <a:buSzPct val="100000"/>
              <a:buChar char="•"/>
            </a:pPr>
            <a:r>
              <a:rPr lang="en-US" sz="1429" dirty="0">
                <a:solidFill>
                  <a:srgbClr val="161613"/>
                </a:solidFill>
                <a:latin typeface="Inter" pitchFamily="34" charset="0"/>
                <a:ea typeface="Inter" pitchFamily="34" charset="-122"/>
                <a:cs typeface="Inter" pitchFamily="34" charset="-120"/>
              </a:rPr>
              <a:t>Enrollment No. :- 23002170210004            </a:t>
            </a:r>
            <a:endParaRPr lang="en-US" sz="1429" dirty="0"/>
          </a:p>
        </p:txBody>
      </p:sp>
      <p:sp>
        <p:nvSpPr>
          <p:cNvPr id="12" name="Text 8"/>
          <p:cNvSpPr/>
          <p:nvPr/>
        </p:nvSpPr>
        <p:spPr>
          <a:xfrm>
            <a:off x="1310759" y="6406634"/>
            <a:ext cx="6812637" cy="290274"/>
          </a:xfrm>
          <a:prstGeom prst="rect">
            <a:avLst/>
          </a:prstGeom>
          <a:noFill/>
          <a:ln/>
        </p:spPr>
        <p:txBody>
          <a:bodyPr wrap="none" rtlCol="0" anchor="t"/>
          <a:lstStyle/>
          <a:p>
            <a:pPr marL="342900" indent="-342900" algn="l">
              <a:lnSpc>
                <a:spcPts val="2286"/>
              </a:lnSpc>
              <a:buSzPct val="100000"/>
              <a:buChar char="•"/>
            </a:pPr>
            <a:r>
              <a:rPr lang="en-US" sz="1429" dirty="0">
                <a:solidFill>
                  <a:srgbClr val="161613"/>
                </a:solidFill>
                <a:latin typeface="Inter" pitchFamily="34" charset="0"/>
                <a:ea typeface="Inter" pitchFamily="34" charset="-122"/>
                <a:cs typeface="Inter" pitchFamily="34" charset="-120"/>
              </a:rPr>
              <a:t>Branch :- IT</a:t>
            </a:r>
            <a:endParaRPr lang="en-US" sz="1429" dirty="0"/>
          </a:p>
        </p:txBody>
      </p:sp>
      <p:pic>
        <p:nvPicPr>
          <p:cNvPr id="13" name="Picture 12">
            <a:extLst>
              <a:ext uri="{FF2B5EF4-FFF2-40B4-BE49-F238E27FC236}">
                <a16:creationId xmlns:a16="http://schemas.microsoft.com/office/drawing/2014/main" id="{35010638-C186-9ADC-3857-3D5EE140EF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14" name="Picture 13">
            <a:extLst>
              <a:ext uri="{FF2B5EF4-FFF2-40B4-BE49-F238E27FC236}">
                <a16:creationId xmlns:a16="http://schemas.microsoft.com/office/drawing/2014/main" id="{19716107-1469-1AAD-4EF7-4FE4548ADA01}"/>
              </a:ext>
            </a:extLst>
          </p:cNvPr>
          <p:cNvPicPr>
            <a:picLocks noChangeAspect="1"/>
          </p:cNvPicPr>
          <p:nvPr/>
        </p:nvPicPr>
        <p:blipFill rotWithShape="1">
          <a:blip r:embed="rId6">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
        <p:nvSpPr>
          <p:cNvPr id="4" name="Text 2"/>
          <p:cNvSpPr/>
          <p:nvPr/>
        </p:nvSpPr>
        <p:spPr>
          <a:xfrm>
            <a:off x="3802499" y="560546"/>
            <a:ext cx="7025402" cy="878205"/>
          </a:xfrm>
          <a:prstGeom prst="rect">
            <a:avLst/>
          </a:prstGeom>
          <a:noFill/>
          <a:ln/>
        </p:spPr>
        <p:txBody>
          <a:bodyPr wrap="none" rtlCol="0" anchor="t"/>
          <a:lstStyle/>
          <a:p>
            <a:pPr marL="0" indent="0" algn="ctr">
              <a:lnSpc>
                <a:spcPts val="6915"/>
              </a:lnSpc>
              <a:buNone/>
            </a:pPr>
            <a:r>
              <a:rPr lang="en-US" sz="5532" dirty="0">
                <a:solidFill>
                  <a:srgbClr val="161613"/>
                </a:solidFill>
                <a:latin typeface="DM Sans" pitchFamily="34" charset="0"/>
                <a:ea typeface="DM Sans" pitchFamily="34" charset="-122"/>
                <a:cs typeface="DM Sans" pitchFamily="34" charset="-120"/>
              </a:rPr>
              <a:t>Project Outline</a:t>
            </a:r>
            <a:endParaRPr lang="en-US" sz="5532" dirty="0"/>
          </a:p>
        </p:txBody>
      </p:sp>
      <p:sp>
        <p:nvSpPr>
          <p:cNvPr id="5" name="Text 3"/>
          <p:cNvSpPr/>
          <p:nvPr/>
        </p:nvSpPr>
        <p:spPr>
          <a:xfrm>
            <a:off x="712708" y="1744147"/>
            <a:ext cx="13204984" cy="325755"/>
          </a:xfrm>
          <a:prstGeom prst="rect">
            <a:avLst/>
          </a:prstGeom>
          <a:noFill/>
          <a:ln/>
        </p:spPr>
        <p:txBody>
          <a:bodyPr wrap="none" rtlCol="0" anchor="t"/>
          <a:lstStyle/>
          <a:p>
            <a:pPr marL="0" indent="0" algn="ctr">
              <a:lnSpc>
                <a:spcPts val="2565"/>
              </a:lnSpc>
              <a:buNone/>
            </a:pPr>
            <a:endParaRPr lang="en-US" sz="1603" dirty="0"/>
          </a:p>
        </p:txBody>
      </p:sp>
      <p:sp>
        <p:nvSpPr>
          <p:cNvPr id="6" name="Shape 4"/>
          <p:cNvSpPr/>
          <p:nvPr/>
        </p:nvSpPr>
        <p:spPr>
          <a:xfrm>
            <a:off x="712708" y="2298978"/>
            <a:ext cx="6500693" cy="725329"/>
          </a:xfrm>
          <a:prstGeom prst="roundRect">
            <a:avLst>
              <a:gd name="adj" fmla="val 4211"/>
            </a:avLst>
          </a:prstGeom>
          <a:solidFill>
            <a:srgbClr val="EDEBE3"/>
          </a:solidFill>
          <a:ln/>
        </p:spPr>
      </p:sp>
      <p:sp>
        <p:nvSpPr>
          <p:cNvPr id="7" name="Text 5"/>
          <p:cNvSpPr/>
          <p:nvPr/>
        </p:nvSpPr>
        <p:spPr>
          <a:xfrm>
            <a:off x="916305" y="2502575"/>
            <a:ext cx="2681049"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Purpose of the Project</a:t>
            </a:r>
            <a:endParaRPr lang="en-US" sz="2004" dirty="0"/>
          </a:p>
        </p:txBody>
      </p:sp>
      <p:sp>
        <p:nvSpPr>
          <p:cNvPr id="8" name="Shape 6"/>
          <p:cNvSpPr/>
          <p:nvPr/>
        </p:nvSpPr>
        <p:spPr>
          <a:xfrm>
            <a:off x="7416998" y="2298978"/>
            <a:ext cx="6500693" cy="725329"/>
          </a:xfrm>
          <a:prstGeom prst="roundRect">
            <a:avLst>
              <a:gd name="adj" fmla="val 4211"/>
            </a:avLst>
          </a:prstGeom>
          <a:solidFill>
            <a:srgbClr val="EDEBE3"/>
          </a:solidFill>
          <a:ln/>
        </p:spPr>
      </p:sp>
      <p:sp>
        <p:nvSpPr>
          <p:cNvPr id="9" name="Text 7"/>
          <p:cNvSpPr/>
          <p:nvPr/>
        </p:nvSpPr>
        <p:spPr>
          <a:xfrm>
            <a:off x="7620595" y="2502575"/>
            <a:ext cx="2545437"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ER Diagram</a:t>
            </a:r>
            <a:endParaRPr lang="en-US" sz="2004" dirty="0"/>
          </a:p>
        </p:txBody>
      </p:sp>
      <p:sp>
        <p:nvSpPr>
          <p:cNvPr id="10" name="Shape 8"/>
          <p:cNvSpPr/>
          <p:nvPr/>
        </p:nvSpPr>
        <p:spPr>
          <a:xfrm>
            <a:off x="712708" y="3227903"/>
            <a:ext cx="6500693" cy="725329"/>
          </a:xfrm>
          <a:prstGeom prst="roundRect">
            <a:avLst>
              <a:gd name="adj" fmla="val 4211"/>
            </a:avLst>
          </a:prstGeom>
          <a:solidFill>
            <a:srgbClr val="EDEBE3"/>
          </a:solidFill>
          <a:ln/>
        </p:spPr>
      </p:sp>
      <p:sp>
        <p:nvSpPr>
          <p:cNvPr id="11" name="Text 9"/>
          <p:cNvSpPr/>
          <p:nvPr/>
        </p:nvSpPr>
        <p:spPr>
          <a:xfrm>
            <a:off x="916305" y="3431500"/>
            <a:ext cx="2545437"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Use Case Diagram</a:t>
            </a:r>
            <a:endParaRPr lang="en-US" sz="2004" dirty="0"/>
          </a:p>
        </p:txBody>
      </p:sp>
      <p:sp>
        <p:nvSpPr>
          <p:cNvPr id="12" name="Shape 10"/>
          <p:cNvSpPr/>
          <p:nvPr/>
        </p:nvSpPr>
        <p:spPr>
          <a:xfrm>
            <a:off x="7416998" y="3227903"/>
            <a:ext cx="6500693" cy="725329"/>
          </a:xfrm>
          <a:prstGeom prst="roundRect">
            <a:avLst>
              <a:gd name="adj" fmla="val 4211"/>
            </a:avLst>
          </a:prstGeom>
          <a:solidFill>
            <a:srgbClr val="EDEBE3"/>
          </a:solidFill>
          <a:ln/>
        </p:spPr>
      </p:sp>
      <p:sp>
        <p:nvSpPr>
          <p:cNvPr id="13" name="Text 11"/>
          <p:cNvSpPr/>
          <p:nvPr/>
        </p:nvSpPr>
        <p:spPr>
          <a:xfrm>
            <a:off x="7620595" y="3431500"/>
            <a:ext cx="2545437"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Flow Chart</a:t>
            </a:r>
            <a:endParaRPr lang="en-US" sz="2004" dirty="0"/>
          </a:p>
        </p:txBody>
      </p:sp>
      <p:sp>
        <p:nvSpPr>
          <p:cNvPr id="14" name="Shape 12"/>
          <p:cNvSpPr/>
          <p:nvPr/>
        </p:nvSpPr>
        <p:spPr>
          <a:xfrm>
            <a:off x="712708" y="4156829"/>
            <a:ext cx="6500693" cy="725329"/>
          </a:xfrm>
          <a:prstGeom prst="roundRect">
            <a:avLst>
              <a:gd name="adj" fmla="val 4211"/>
            </a:avLst>
          </a:prstGeom>
          <a:solidFill>
            <a:srgbClr val="EDEBE3"/>
          </a:solidFill>
          <a:ln/>
        </p:spPr>
      </p:sp>
      <p:sp>
        <p:nvSpPr>
          <p:cNvPr id="15" name="Text 13"/>
          <p:cNvSpPr/>
          <p:nvPr/>
        </p:nvSpPr>
        <p:spPr>
          <a:xfrm>
            <a:off x="916305" y="4360426"/>
            <a:ext cx="2545437"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Functionalities</a:t>
            </a:r>
            <a:endParaRPr lang="en-US" sz="2004" dirty="0"/>
          </a:p>
        </p:txBody>
      </p:sp>
      <p:sp>
        <p:nvSpPr>
          <p:cNvPr id="16" name="Shape 14"/>
          <p:cNvSpPr/>
          <p:nvPr/>
        </p:nvSpPr>
        <p:spPr>
          <a:xfrm>
            <a:off x="7416998" y="4156829"/>
            <a:ext cx="6500693" cy="725329"/>
          </a:xfrm>
          <a:prstGeom prst="roundRect">
            <a:avLst>
              <a:gd name="adj" fmla="val 4211"/>
            </a:avLst>
          </a:prstGeom>
          <a:solidFill>
            <a:srgbClr val="EDEBE3"/>
          </a:solidFill>
          <a:ln/>
        </p:spPr>
      </p:sp>
      <p:sp>
        <p:nvSpPr>
          <p:cNvPr id="17" name="Text 15"/>
          <p:cNvSpPr/>
          <p:nvPr/>
        </p:nvSpPr>
        <p:spPr>
          <a:xfrm>
            <a:off x="7620595" y="4360426"/>
            <a:ext cx="2545437"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Usage Of Java </a:t>
            </a:r>
            <a:endParaRPr lang="en-US" sz="2004" dirty="0"/>
          </a:p>
        </p:txBody>
      </p:sp>
      <p:sp>
        <p:nvSpPr>
          <p:cNvPr id="18" name="Shape 16"/>
          <p:cNvSpPr/>
          <p:nvPr/>
        </p:nvSpPr>
        <p:spPr>
          <a:xfrm>
            <a:off x="712708" y="5085755"/>
            <a:ext cx="6500693" cy="725329"/>
          </a:xfrm>
          <a:prstGeom prst="roundRect">
            <a:avLst>
              <a:gd name="adj" fmla="val 4211"/>
            </a:avLst>
          </a:prstGeom>
          <a:solidFill>
            <a:srgbClr val="EDEBE3"/>
          </a:solidFill>
          <a:ln/>
        </p:spPr>
      </p:sp>
      <p:sp>
        <p:nvSpPr>
          <p:cNvPr id="19" name="Text 17"/>
          <p:cNvSpPr/>
          <p:nvPr/>
        </p:nvSpPr>
        <p:spPr>
          <a:xfrm>
            <a:off x="916305" y="5289352"/>
            <a:ext cx="2907983"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Usage Of Data Structure</a:t>
            </a:r>
            <a:endParaRPr lang="en-US" sz="2004" dirty="0"/>
          </a:p>
        </p:txBody>
      </p:sp>
      <p:sp>
        <p:nvSpPr>
          <p:cNvPr id="20" name="Shape 18"/>
          <p:cNvSpPr/>
          <p:nvPr/>
        </p:nvSpPr>
        <p:spPr>
          <a:xfrm>
            <a:off x="7416998" y="5085755"/>
            <a:ext cx="6500693" cy="725329"/>
          </a:xfrm>
          <a:prstGeom prst="roundRect">
            <a:avLst>
              <a:gd name="adj" fmla="val 4211"/>
            </a:avLst>
          </a:prstGeom>
          <a:solidFill>
            <a:srgbClr val="EDEBE3"/>
          </a:solidFill>
          <a:ln/>
        </p:spPr>
      </p:sp>
      <p:sp>
        <p:nvSpPr>
          <p:cNvPr id="21" name="Text 19"/>
          <p:cNvSpPr/>
          <p:nvPr/>
        </p:nvSpPr>
        <p:spPr>
          <a:xfrm>
            <a:off x="7620595" y="5289352"/>
            <a:ext cx="2545437"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Usage Of DBMS</a:t>
            </a:r>
            <a:endParaRPr lang="en-US" sz="2004" dirty="0"/>
          </a:p>
        </p:txBody>
      </p:sp>
      <p:sp>
        <p:nvSpPr>
          <p:cNvPr id="22" name="Shape 20"/>
          <p:cNvSpPr/>
          <p:nvPr/>
        </p:nvSpPr>
        <p:spPr>
          <a:xfrm>
            <a:off x="712708" y="6014680"/>
            <a:ext cx="6500693" cy="725329"/>
          </a:xfrm>
          <a:prstGeom prst="roundRect">
            <a:avLst>
              <a:gd name="adj" fmla="val 4211"/>
            </a:avLst>
          </a:prstGeom>
          <a:solidFill>
            <a:srgbClr val="EDEBE3"/>
          </a:solidFill>
          <a:ln/>
        </p:spPr>
      </p:sp>
      <p:sp>
        <p:nvSpPr>
          <p:cNvPr id="23" name="Text 21"/>
          <p:cNvSpPr/>
          <p:nvPr/>
        </p:nvSpPr>
        <p:spPr>
          <a:xfrm>
            <a:off x="916305" y="6218277"/>
            <a:ext cx="2545437"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Advantages</a:t>
            </a:r>
            <a:endParaRPr lang="en-US" sz="2004" dirty="0"/>
          </a:p>
        </p:txBody>
      </p:sp>
      <p:sp>
        <p:nvSpPr>
          <p:cNvPr id="24" name="Shape 22"/>
          <p:cNvSpPr/>
          <p:nvPr/>
        </p:nvSpPr>
        <p:spPr>
          <a:xfrm>
            <a:off x="7416998" y="6014680"/>
            <a:ext cx="6500693" cy="725329"/>
          </a:xfrm>
          <a:prstGeom prst="roundRect">
            <a:avLst>
              <a:gd name="adj" fmla="val 4211"/>
            </a:avLst>
          </a:prstGeom>
          <a:solidFill>
            <a:srgbClr val="EDEBE3"/>
          </a:solidFill>
          <a:ln/>
        </p:spPr>
      </p:sp>
      <p:sp>
        <p:nvSpPr>
          <p:cNvPr id="25" name="Text 23"/>
          <p:cNvSpPr/>
          <p:nvPr/>
        </p:nvSpPr>
        <p:spPr>
          <a:xfrm>
            <a:off x="7620595" y="6218277"/>
            <a:ext cx="2545437"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Disadvantages</a:t>
            </a:r>
            <a:endParaRPr lang="en-US" sz="2004" dirty="0"/>
          </a:p>
        </p:txBody>
      </p:sp>
      <p:sp>
        <p:nvSpPr>
          <p:cNvPr id="26" name="Shape 24"/>
          <p:cNvSpPr/>
          <p:nvPr/>
        </p:nvSpPr>
        <p:spPr>
          <a:xfrm>
            <a:off x="712708" y="6943606"/>
            <a:ext cx="6500693" cy="725329"/>
          </a:xfrm>
          <a:prstGeom prst="roundRect">
            <a:avLst>
              <a:gd name="adj" fmla="val 4211"/>
            </a:avLst>
          </a:prstGeom>
          <a:solidFill>
            <a:srgbClr val="EDEBE3"/>
          </a:solidFill>
          <a:ln/>
        </p:spPr>
      </p:sp>
      <p:sp>
        <p:nvSpPr>
          <p:cNvPr id="27" name="Text 25"/>
          <p:cNvSpPr/>
          <p:nvPr/>
        </p:nvSpPr>
        <p:spPr>
          <a:xfrm>
            <a:off x="916305" y="7147203"/>
            <a:ext cx="2545437" cy="318135"/>
          </a:xfrm>
          <a:prstGeom prst="rect">
            <a:avLst/>
          </a:prstGeom>
          <a:noFill/>
          <a:ln/>
        </p:spPr>
        <p:txBody>
          <a:bodyPr wrap="none" rtlCol="0" anchor="t"/>
          <a:lstStyle/>
          <a:p>
            <a:pPr marL="0" indent="0" algn="l">
              <a:lnSpc>
                <a:spcPts val="2505"/>
              </a:lnSpc>
              <a:buNone/>
            </a:pPr>
            <a:r>
              <a:rPr lang="en-US" sz="2004" dirty="0">
                <a:solidFill>
                  <a:srgbClr val="161613"/>
                </a:solidFill>
                <a:latin typeface="DM Sans" pitchFamily="34" charset="0"/>
                <a:ea typeface="DM Sans" pitchFamily="34" charset="-122"/>
                <a:cs typeface="DM Sans" pitchFamily="34" charset="-120"/>
              </a:rPr>
              <a:t>Tools Use In project</a:t>
            </a:r>
            <a:endParaRPr lang="en-US" sz="2004" dirty="0"/>
          </a:p>
        </p:txBody>
      </p:sp>
      <p:sp>
        <p:nvSpPr>
          <p:cNvPr id="28" name="Shape 26"/>
          <p:cNvSpPr/>
          <p:nvPr/>
        </p:nvSpPr>
        <p:spPr>
          <a:xfrm>
            <a:off x="7416998" y="6943606"/>
            <a:ext cx="6500693" cy="725329"/>
          </a:xfrm>
          <a:prstGeom prst="roundRect">
            <a:avLst>
              <a:gd name="adj" fmla="val 4211"/>
            </a:avLst>
          </a:prstGeom>
          <a:solidFill>
            <a:srgbClr val="EDEBE3"/>
          </a:solidFill>
          <a:ln/>
        </p:spPr>
      </p:sp>
      <p:sp>
        <p:nvSpPr>
          <p:cNvPr id="29" name="Text 27"/>
          <p:cNvSpPr/>
          <p:nvPr/>
        </p:nvSpPr>
        <p:spPr>
          <a:xfrm>
            <a:off x="7620595" y="7147203"/>
            <a:ext cx="2545437" cy="318135"/>
          </a:xfrm>
          <a:prstGeom prst="rect">
            <a:avLst/>
          </a:prstGeom>
          <a:noFill/>
          <a:ln/>
        </p:spPr>
        <p:txBody>
          <a:bodyPr wrap="none" rtlCol="0" anchor="t"/>
          <a:lstStyle/>
          <a:p>
            <a:pPr marL="0" indent="0">
              <a:lnSpc>
                <a:spcPts val="2505"/>
              </a:lnSpc>
              <a:buNone/>
            </a:pPr>
            <a:r>
              <a:rPr lang="en-US" sz="2004" dirty="0">
                <a:solidFill>
                  <a:srgbClr val="161613"/>
                </a:solidFill>
                <a:latin typeface="DM Sans" pitchFamily="34" charset="0"/>
                <a:ea typeface="DM Sans" pitchFamily="34" charset="-122"/>
                <a:cs typeface="DM Sans" pitchFamily="34" charset="-120"/>
              </a:rPr>
              <a:t>Real Life Uses</a:t>
            </a:r>
            <a:endParaRPr lang="en-US" sz="200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5" name="Text 2"/>
          <p:cNvSpPr/>
          <p:nvPr/>
        </p:nvSpPr>
        <p:spPr>
          <a:xfrm>
            <a:off x="793790" y="1248370"/>
            <a:ext cx="7556421" cy="362903"/>
          </a:xfrm>
          <a:prstGeom prst="rect">
            <a:avLst/>
          </a:prstGeom>
          <a:noFill/>
          <a:ln/>
        </p:spPr>
        <p:txBody>
          <a:bodyPr wrap="none" rtlCol="0" anchor="t"/>
          <a:lstStyle/>
          <a:p>
            <a:pPr marL="0" indent="0">
              <a:lnSpc>
                <a:spcPts val="2858"/>
              </a:lnSpc>
              <a:buNone/>
            </a:pPr>
            <a:endParaRPr lang="en-US" sz="1786" dirty="0"/>
          </a:p>
        </p:txBody>
      </p:sp>
      <p:sp>
        <p:nvSpPr>
          <p:cNvPr id="6" name="Text 3"/>
          <p:cNvSpPr/>
          <p:nvPr/>
        </p:nvSpPr>
        <p:spPr>
          <a:xfrm>
            <a:off x="793790" y="1838087"/>
            <a:ext cx="7556421" cy="1956435"/>
          </a:xfrm>
          <a:prstGeom prst="rect">
            <a:avLst/>
          </a:prstGeom>
          <a:noFill/>
          <a:ln/>
        </p:spPr>
        <p:txBody>
          <a:bodyPr wrap="square" rtlCol="0" anchor="t"/>
          <a:lstStyle/>
          <a:p>
            <a:pPr marL="0" indent="0">
              <a:lnSpc>
                <a:spcPts val="7702"/>
              </a:lnSpc>
              <a:buNone/>
            </a:pPr>
            <a:r>
              <a:rPr lang="en-US" sz="6162" dirty="0">
                <a:solidFill>
                  <a:srgbClr val="161613"/>
                </a:solidFill>
                <a:latin typeface="DM Sans" pitchFamily="34" charset="0"/>
                <a:ea typeface="DM Sans" pitchFamily="34" charset="-122"/>
                <a:cs typeface="DM Sans" pitchFamily="34" charset="-120"/>
              </a:rPr>
              <a:t>Purpose Of the Project</a:t>
            </a:r>
            <a:endParaRPr lang="en-US" sz="6162" dirty="0"/>
          </a:p>
        </p:txBody>
      </p:sp>
      <p:sp>
        <p:nvSpPr>
          <p:cNvPr id="7" name="Text 4"/>
          <p:cNvSpPr/>
          <p:nvPr/>
        </p:nvSpPr>
        <p:spPr>
          <a:xfrm>
            <a:off x="793790" y="4134683"/>
            <a:ext cx="7556421" cy="362903"/>
          </a:xfrm>
          <a:prstGeom prst="rect">
            <a:avLst/>
          </a:prstGeom>
          <a:noFill/>
          <a:ln/>
        </p:spPr>
        <p:txBody>
          <a:bodyPr wrap="none" rtlCol="0" anchor="t"/>
          <a:lstStyle/>
          <a:p>
            <a:pPr marL="0" indent="0">
              <a:lnSpc>
                <a:spcPts val="2858"/>
              </a:lnSpc>
              <a:buNone/>
            </a:pPr>
            <a:endParaRPr lang="en-US" sz="1786" dirty="0"/>
          </a:p>
        </p:txBody>
      </p:sp>
      <p:sp>
        <p:nvSpPr>
          <p:cNvPr id="8" name="Text 5"/>
          <p:cNvSpPr/>
          <p:nvPr/>
        </p:nvSpPr>
        <p:spPr>
          <a:xfrm>
            <a:off x="793790" y="4752737"/>
            <a:ext cx="7556421" cy="1814513"/>
          </a:xfrm>
          <a:prstGeom prst="rect">
            <a:avLst/>
          </a:prstGeom>
          <a:noFill/>
          <a:ln/>
        </p:spPr>
        <p:txBody>
          <a:bodyPr wrap="square" rtlCol="0" anchor="t"/>
          <a:lstStyle/>
          <a:p>
            <a:pPr marL="0" indent="0">
              <a:lnSpc>
                <a:spcPts val="2858"/>
              </a:lnSpc>
              <a:buNone/>
            </a:pPr>
            <a:r>
              <a:rPr lang="en-US" sz="1786" dirty="0">
                <a:solidFill>
                  <a:srgbClr val="161613"/>
                </a:solidFill>
                <a:latin typeface="Inter" pitchFamily="34" charset="0"/>
                <a:ea typeface="Inter" pitchFamily="34" charset="-122"/>
                <a:cs typeface="Inter" pitchFamily="34" charset="-120"/>
              </a:rPr>
              <a:t>The purpose of the </a:t>
            </a:r>
            <a:r>
              <a:rPr lang="en-US" sz="1786" b="1" dirty="0">
                <a:solidFill>
                  <a:srgbClr val="161613"/>
                </a:solidFill>
                <a:latin typeface="Inter" pitchFamily="34" charset="0"/>
                <a:ea typeface="Inter" pitchFamily="34" charset="-122"/>
                <a:cs typeface="Inter" pitchFamily="34" charset="-120"/>
              </a:rPr>
              <a:t>Budget Buddy</a:t>
            </a:r>
            <a:r>
              <a:rPr lang="en-US" sz="1786" dirty="0">
                <a:solidFill>
                  <a:srgbClr val="161613"/>
                </a:solidFill>
                <a:latin typeface="Inter" pitchFamily="34" charset="0"/>
                <a:ea typeface="Inter" pitchFamily="34" charset="-122"/>
                <a:cs typeface="Inter" pitchFamily="34" charset="-120"/>
              </a:rPr>
              <a:t> project is to help users efficiently manage their finances by tracking income, expenses, and financial goals. It provides tools for users to log transactions, set savings goals, and view their financial history, making personal budgeting easier and more organized.</a:t>
            </a:r>
            <a:endParaRPr lang="en-US" sz="1786" dirty="0"/>
          </a:p>
        </p:txBody>
      </p:sp>
      <p:sp>
        <p:nvSpPr>
          <p:cNvPr id="9" name="Text 6"/>
          <p:cNvSpPr/>
          <p:nvPr/>
        </p:nvSpPr>
        <p:spPr>
          <a:xfrm>
            <a:off x="793790" y="6822400"/>
            <a:ext cx="7556421" cy="362903"/>
          </a:xfrm>
          <a:prstGeom prst="rect">
            <a:avLst/>
          </a:prstGeom>
          <a:noFill/>
          <a:ln/>
        </p:spPr>
        <p:txBody>
          <a:bodyPr wrap="none" rtlCol="0" anchor="t"/>
          <a:lstStyle/>
          <a:p>
            <a:pPr marL="0" indent="0">
              <a:lnSpc>
                <a:spcPts val="2858"/>
              </a:lnSpc>
              <a:buNone/>
            </a:pPr>
            <a:endParaRPr lang="en-US" sz="1786" dirty="0"/>
          </a:p>
        </p:txBody>
      </p:sp>
      <p:pic>
        <p:nvPicPr>
          <p:cNvPr id="11" name="Image 1" descr="preencoded.png">
            <a:extLst>
              <a:ext uri="{FF2B5EF4-FFF2-40B4-BE49-F238E27FC236}">
                <a16:creationId xmlns:a16="http://schemas.microsoft.com/office/drawing/2014/main" id="{6A3807C9-5099-81C5-5681-DEDC36713691}"/>
              </a:ext>
            </a:extLst>
          </p:cNvPr>
          <p:cNvPicPr>
            <a:picLocks noChangeAspect="1"/>
          </p:cNvPicPr>
          <p:nvPr/>
        </p:nvPicPr>
        <p:blipFill>
          <a:blip r:embed="rId4"/>
          <a:stretch>
            <a:fillRect/>
          </a:stretch>
        </p:blipFill>
        <p:spPr>
          <a:xfrm>
            <a:off x="10117217" y="283488"/>
            <a:ext cx="3539966" cy="7662624"/>
          </a:xfrm>
          <a:prstGeom prst="rect">
            <a:avLst/>
          </a:prstGeom>
        </p:spPr>
      </p:pic>
      <p:pic>
        <p:nvPicPr>
          <p:cNvPr id="10" name="Picture 9">
            <a:extLst>
              <a:ext uri="{FF2B5EF4-FFF2-40B4-BE49-F238E27FC236}">
                <a16:creationId xmlns:a16="http://schemas.microsoft.com/office/drawing/2014/main" id="{24723C17-8918-B11E-FA9B-707CAF0477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12" name="Picture 11">
            <a:extLst>
              <a:ext uri="{FF2B5EF4-FFF2-40B4-BE49-F238E27FC236}">
                <a16:creationId xmlns:a16="http://schemas.microsoft.com/office/drawing/2014/main" id="{F6E019E4-8DB2-F8F4-5BDA-5EE8844DAB8E}"/>
              </a:ext>
            </a:extLst>
          </p:cNvPr>
          <p:cNvPicPr>
            <a:picLocks noChangeAspect="1"/>
          </p:cNvPicPr>
          <p:nvPr/>
        </p:nvPicPr>
        <p:blipFill rotWithShape="1">
          <a:blip r:embed="rId6">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p:cNvPicPr>
            <a:picLocks noChangeAspect="1"/>
          </p:cNvPicPr>
          <p:nvPr/>
        </p:nvPicPr>
        <p:blipFill>
          <a:blip r:embed="rId3"/>
          <a:srcRect/>
          <a:stretch/>
        </p:blipFill>
        <p:spPr>
          <a:xfrm>
            <a:off x="0" y="0"/>
            <a:ext cx="14630400" cy="8229600"/>
          </a:xfrm>
          <a:prstGeom prst="rect">
            <a:avLst/>
          </a:prstGeom>
        </p:spPr>
      </p:pic>
      <p:sp>
        <p:nvSpPr>
          <p:cNvPr id="5" name="Text 2"/>
          <p:cNvSpPr/>
          <p:nvPr/>
        </p:nvSpPr>
        <p:spPr>
          <a:xfrm>
            <a:off x="793790" y="3760351"/>
            <a:ext cx="5670590" cy="708779"/>
          </a:xfrm>
          <a:prstGeom prst="rect">
            <a:avLst/>
          </a:prstGeom>
          <a:noFill/>
          <a:ln/>
        </p:spPr>
        <p:txBody>
          <a:bodyPr wrap="none" rtlCol="0" anchor="t"/>
          <a:lstStyle/>
          <a:p>
            <a:pPr marL="0" indent="0">
              <a:lnSpc>
                <a:spcPts val="5581"/>
              </a:lnSpc>
              <a:buNone/>
            </a:pPr>
            <a:endParaRPr lang="en-US" sz="4465" dirty="0"/>
          </a:p>
        </p:txBody>
      </p:sp>
      <p:pic>
        <p:nvPicPr>
          <p:cNvPr id="6" name="Picture 5">
            <a:extLst>
              <a:ext uri="{FF2B5EF4-FFF2-40B4-BE49-F238E27FC236}">
                <a16:creationId xmlns:a16="http://schemas.microsoft.com/office/drawing/2014/main" id="{187DEE39-8B85-6514-66B6-C50E6575B1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79259" y="5832087"/>
            <a:ext cx="741512" cy="776377"/>
          </a:xfrm>
          <a:prstGeom prst="rect">
            <a:avLst/>
          </a:prstGeom>
        </p:spPr>
      </p:pic>
      <p:pic>
        <p:nvPicPr>
          <p:cNvPr id="7" name="Picture 6">
            <a:extLst>
              <a:ext uri="{FF2B5EF4-FFF2-40B4-BE49-F238E27FC236}">
                <a16:creationId xmlns:a16="http://schemas.microsoft.com/office/drawing/2014/main" id="{12E8791F-E383-8860-85F6-B491E775068F}"/>
              </a:ext>
            </a:extLst>
          </p:cNvPr>
          <p:cNvPicPr>
            <a:picLocks noChangeAspect="1"/>
          </p:cNvPicPr>
          <p:nvPr/>
        </p:nvPicPr>
        <p:blipFill rotWithShape="1">
          <a:blip r:embed="rId5">
            <a:extLst>
              <a:ext uri="{28A0092B-C50C-407E-A947-70E740481C1C}">
                <a14:useLocalDpi xmlns:a14="http://schemas.microsoft.com/office/drawing/2010/main" val="0"/>
              </a:ext>
            </a:extLst>
          </a:blip>
          <a:srcRect l="25791" t="16832" b="13861"/>
          <a:stretch/>
        </p:blipFill>
        <p:spPr>
          <a:xfrm>
            <a:off x="11477882" y="5832087"/>
            <a:ext cx="3152518" cy="60384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p:cNvPicPr>
            <a:picLocks noChangeAspect="1"/>
          </p:cNvPicPr>
          <p:nvPr/>
        </p:nvPicPr>
        <p:blipFill>
          <a:blip r:embed="rId3"/>
          <a:srcRect/>
          <a:stretch/>
        </p:blipFill>
        <p:spPr>
          <a:xfrm>
            <a:off x="0" y="0"/>
            <a:ext cx="14630400" cy="8229600"/>
          </a:xfrm>
          <a:prstGeom prst="rect">
            <a:avLst/>
          </a:prstGeom>
        </p:spPr>
      </p:pic>
      <p:sp>
        <p:nvSpPr>
          <p:cNvPr id="5" name="Text 2"/>
          <p:cNvSpPr/>
          <p:nvPr/>
        </p:nvSpPr>
        <p:spPr>
          <a:xfrm>
            <a:off x="793790" y="3760351"/>
            <a:ext cx="5670590" cy="708779"/>
          </a:xfrm>
          <a:prstGeom prst="rect">
            <a:avLst/>
          </a:prstGeom>
          <a:noFill/>
          <a:ln/>
        </p:spPr>
        <p:txBody>
          <a:bodyPr wrap="none" rtlCol="0" anchor="t"/>
          <a:lstStyle/>
          <a:p>
            <a:pPr marL="0" indent="0">
              <a:lnSpc>
                <a:spcPts val="5581"/>
              </a:lnSpc>
              <a:buNone/>
            </a:pPr>
            <a:endParaRPr lang="en-US" sz="4465" dirty="0"/>
          </a:p>
        </p:txBody>
      </p:sp>
      <p:pic>
        <p:nvPicPr>
          <p:cNvPr id="8" name="Picture 7">
            <a:extLst>
              <a:ext uri="{FF2B5EF4-FFF2-40B4-BE49-F238E27FC236}">
                <a16:creationId xmlns:a16="http://schemas.microsoft.com/office/drawing/2014/main" id="{A486B028-6A73-E15B-FA85-E227F75CC0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9" name="Picture 8">
            <a:extLst>
              <a:ext uri="{FF2B5EF4-FFF2-40B4-BE49-F238E27FC236}">
                <a16:creationId xmlns:a16="http://schemas.microsoft.com/office/drawing/2014/main" id="{D55D6F54-93FB-FB4B-3770-4AAC3482248A}"/>
              </a:ext>
            </a:extLst>
          </p:cNvPr>
          <p:cNvPicPr>
            <a:picLocks noChangeAspect="1"/>
          </p:cNvPicPr>
          <p:nvPr/>
        </p:nvPicPr>
        <p:blipFill rotWithShape="1">
          <a:blip r:embed="rId5">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extLst>
      <p:ext uri="{BB962C8B-B14F-4D97-AF65-F5344CB8AC3E}">
        <p14:creationId xmlns:p14="http://schemas.microsoft.com/office/powerpoint/2010/main" val="1957471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p:cNvPicPr>
            <a:picLocks noChangeAspect="1"/>
          </p:cNvPicPr>
          <p:nvPr/>
        </p:nvPicPr>
        <p:blipFill>
          <a:blip r:embed="rId3"/>
          <a:srcRect/>
          <a:stretch/>
        </p:blipFill>
        <p:spPr>
          <a:xfrm>
            <a:off x="0" y="16525"/>
            <a:ext cx="7589520" cy="8229600"/>
          </a:xfrm>
          <a:prstGeom prst="rect">
            <a:avLst/>
          </a:prstGeom>
        </p:spPr>
      </p:pic>
      <p:sp>
        <p:nvSpPr>
          <p:cNvPr id="5" name="Text 2"/>
          <p:cNvSpPr/>
          <p:nvPr/>
        </p:nvSpPr>
        <p:spPr>
          <a:xfrm>
            <a:off x="793790" y="3760351"/>
            <a:ext cx="5670590" cy="708779"/>
          </a:xfrm>
          <a:prstGeom prst="rect">
            <a:avLst/>
          </a:prstGeom>
          <a:noFill/>
          <a:ln/>
        </p:spPr>
        <p:txBody>
          <a:bodyPr wrap="none" rtlCol="0" anchor="t"/>
          <a:lstStyle/>
          <a:p>
            <a:pPr marL="0" indent="0">
              <a:lnSpc>
                <a:spcPts val="5581"/>
              </a:lnSpc>
              <a:buNone/>
            </a:pPr>
            <a:endParaRPr lang="en-US" sz="4465" dirty="0"/>
          </a:p>
        </p:txBody>
      </p:sp>
      <p:pic>
        <p:nvPicPr>
          <p:cNvPr id="8" name="Picture 7">
            <a:extLst>
              <a:ext uri="{FF2B5EF4-FFF2-40B4-BE49-F238E27FC236}">
                <a16:creationId xmlns:a16="http://schemas.microsoft.com/office/drawing/2014/main" id="{A486B028-6A73-E15B-FA85-E227F75CC0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7" name="Image 0">
            <a:extLst>
              <a:ext uri="{FF2B5EF4-FFF2-40B4-BE49-F238E27FC236}">
                <a16:creationId xmlns:a16="http://schemas.microsoft.com/office/drawing/2014/main" id="{1A20F749-EBEC-B138-2DD8-558020F7A648}"/>
              </a:ext>
            </a:extLst>
          </p:cNvPr>
          <p:cNvPicPr>
            <a:picLocks noChangeAspect="1"/>
          </p:cNvPicPr>
          <p:nvPr/>
        </p:nvPicPr>
        <p:blipFill>
          <a:blip r:embed="rId5"/>
          <a:srcRect/>
          <a:stretch/>
        </p:blipFill>
        <p:spPr>
          <a:xfrm>
            <a:off x="7610644" y="-16525"/>
            <a:ext cx="6998632" cy="8229600"/>
          </a:xfrm>
          <a:prstGeom prst="rect">
            <a:avLst/>
          </a:prstGeom>
        </p:spPr>
      </p:pic>
      <p:pic>
        <p:nvPicPr>
          <p:cNvPr id="9" name="Picture 8">
            <a:extLst>
              <a:ext uri="{FF2B5EF4-FFF2-40B4-BE49-F238E27FC236}">
                <a16:creationId xmlns:a16="http://schemas.microsoft.com/office/drawing/2014/main" id="{D55D6F54-93FB-FB4B-3770-4AAC3482248A}"/>
              </a:ext>
            </a:extLst>
          </p:cNvPr>
          <p:cNvPicPr>
            <a:picLocks noChangeAspect="1"/>
          </p:cNvPicPr>
          <p:nvPr/>
        </p:nvPicPr>
        <p:blipFill rotWithShape="1">
          <a:blip r:embed="rId6">
            <a:extLst>
              <a:ext uri="{28A0092B-C50C-407E-A947-70E740481C1C}">
                <a14:useLocalDpi xmlns:a14="http://schemas.microsoft.com/office/drawing/2010/main" val="0"/>
              </a:ext>
            </a:extLst>
          </a:blip>
          <a:srcRect l="25791" t="16832" b="13861"/>
          <a:stretch/>
        </p:blipFill>
        <p:spPr>
          <a:xfrm>
            <a:off x="6159122" y="-16525"/>
            <a:ext cx="3152518" cy="603849"/>
          </a:xfrm>
          <a:prstGeom prst="rect">
            <a:avLst/>
          </a:prstGeom>
        </p:spPr>
      </p:pic>
    </p:spTree>
    <p:extLst>
      <p:ext uri="{BB962C8B-B14F-4D97-AF65-F5344CB8AC3E}">
        <p14:creationId xmlns:p14="http://schemas.microsoft.com/office/powerpoint/2010/main" val="2390194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30076"/>
          </a:xfrm>
          <a:prstGeom prst="rect">
            <a:avLst/>
          </a:prstGeom>
          <a:solidFill>
            <a:srgbClr val="F9F8F5"/>
          </a:solidFill>
          <a:ln/>
        </p:spPr>
      </p:sp>
      <p:sp>
        <p:nvSpPr>
          <p:cNvPr id="4" name="Text 2"/>
          <p:cNvSpPr/>
          <p:nvPr/>
        </p:nvSpPr>
        <p:spPr>
          <a:xfrm>
            <a:off x="5083254" y="491014"/>
            <a:ext cx="4463772" cy="557927"/>
          </a:xfrm>
          <a:prstGeom prst="rect">
            <a:avLst/>
          </a:prstGeom>
          <a:noFill/>
          <a:ln/>
        </p:spPr>
        <p:txBody>
          <a:bodyPr wrap="none" rtlCol="0" anchor="t"/>
          <a:lstStyle/>
          <a:p>
            <a:pPr marL="0" indent="0" algn="ctr">
              <a:lnSpc>
                <a:spcPts val="4394"/>
              </a:lnSpc>
              <a:buNone/>
            </a:pPr>
            <a:r>
              <a:rPr lang="en-US" sz="3515" dirty="0">
                <a:solidFill>
                  <a:srgbClr val="161613"/>
                </a:solidFill>
                <a:latin typeface="DM Sans" pitchFamily="34" charset="0"/>
                <a:ea typeface="DM Sans" pitchFamily="34" charset="-122"/>
                <a:cs typeface="DM Sans" pitchFamily="34" charset="-120"/>
              </a:rPr>
              <a:t>Functionalities</a:t>
            </a:r>
            <a:endParaRPr lang="en-US" sz="3515" dirty="0"/>
          </a:p>
        </p:txBody>
      </p:sp>
      <p:sp>
        <p:nvSpPr>
          <p:cNvPr id="5" name="Text 3"/>
          <p:cNvSpPr/>
          <p:nvPr/>
        </p:nvSpPr>
        <p:spPr>
          <a:xfrm>
            <a:off x="1411843" y="1316712"/>
            <a:ext cx="11806714" cy="285750"/>
          </a:xfrm>
          <a:prstGeom prst="rect">
            <a:avLst/>
          </a:prstGeom>
          <a:noFill/>
          <a:ln/>
        </p:spPr>
        <p:txBody>
          <a:bodyPr wrap="none" rtlCol="0" anchor="t"/>
          <a:lstStyle/>
          <a:p>
            <a:pPr marL="0" indent="0" algn="ctr">
              <a:lnSpc>
                <a:spcPts val="2249"/>
              </a:lnSpc>
              <a:buNone/>
            </a:pPr>
            <a:endParaRPr lang="en-US" sz="1406" dirty="0"/>
          </a:p>
        </p:txBody>
      </p:sp>
      <p:sp>
        <p:nvSpPr>
          <p:cNvPr id="6" name="Shape 4"/>
          <p:cNvSpPr/>
          <p:nvPr/>
        </p:nvSpPr>
        <p:spPr>
          <a:xfrm>
            <a:off x="1668185" y="1803321"/>
            <a:ext cx="22860" cy="5935742"/>
          </a:xfrm>
          <a:prstGeom prst="roundRect">
            <a:avLst>
              <a:gd name="adj" fmla="val 117160"/>
            </a:avLst>
          </a:prstGeom>
          <a:solidFill>
            <a:srgbClr val="D3D1C9"/>
          </a:solidFill>
          <a:ln/>
        </p:spPr>
      </p:sp>
      <p:sp>
        <p:nvSpPr>
          <p:cNvPr id="7" name="Shape 5"/>
          <p:cNvSpPr/>
          <p:nvPr/>
        </p:nvSpPr>
        <p:spPr>
          <a:xfrm>
            <a:off x="1857613" y="2193608"/>
            <a:ext cx="624840" cy="22860"/>
          </a:xfrm>
          <a:prstGeom prst="roundRect">
            <a:avLst>
              <a:gd name="adj" fmla="val 117160"/>
            </a:avLst>
          </a:prstGeom>
          <a:solidFill>
            <a:srgbClr val="D3D1C9"/>
          </a:solidFill>
          <a:ln/>
        </p:spPr>
      </p:sp>
      <p:sp>
        <p:nvSpPr>
          <p:cNvPr id="8" name="Shape 6"/>
          <p:cNvSpPr/>
          <p:nvPr/>
        </p:nvSpPr>
        <p:spPr>
          <a:xfrm>
            <a:off x="1478756" y="2004179"/>
            <a:ext cx="401717" cy="401717"/>
          </a:xfrm>
          <a:prstGeom prst="roundRect">
            <a:avLst>
              <a:gd name="adj" fmla="val 6667"/>
            </a:avLst>
          </a:prstGeom>
          <a:solidFill>
            <a:srgbClr val="EDEBE3"/>
          </a:solidFill>
          <a:ln/>
        </p:spPr>
      </p:sp>
      <p:sp>
        <p:nvSpPr>
          <p:cNvPr id="9" name="Text 7"/>
          <p:cNvSpPr/>
          <p:nvPr/>
        </p:nvSpPr>
        <p:spPr>
          <a:xfrm>
            <a:off x="1635681" y="2071092"/>
            <a:ext cx="87868" cy="267772"/>
          </a:xfrm>
          <a:prstGeom prst="rect">
            <a:avLst/>
          </a:prstGeom>
          <a:noFill/>
          <a:ln/>
        </p:spPr>
        <p:txBody>
          <a:bodyPr wrap="none" rtlCol="0" anchor="t"/>
          <a:lstStyle/>
          <a:p>
            <a:pPr marL="0" indent="0" algn="ctr">
              <a:lnSpc>
                <a:spcPts val="2109"/>
              </a:lnSpc>
              <a:buNone/>
            </a:pPr>
            <a:r>
              <a:rPr lang="en-US" sz="2109" dirty="0">
                <a:solidFill>
                  <a:srgbClr val="161613"/>
                </a:solidFill>
                <a:latin typeface="DM Sans" pitchFamily="34" charset="0"/>
                <a:ea typeface="DM Sans" pitchFamily="34" charset="-122"/>
                <a:cs typeface="DM Sans" pitchFamily="34" charset="-120"/>
              </a:rPr>
              <a:t>1</a:t>
            </a:r>
            <a:endParaRPr lang="en-US" sz="2109" dirty="0"/>
          </a:p>
        </p:txBody>
      </p:sp>
      <p:sp>
        <p:nvSpPr>
          <p:cNvPr id="10" name="Text 8"/>
          <p:cNvSpPr/>
          <p:nvPr/>
        </p:nvSpPr>
        <p:spPr>
          <a:xfrm>
            <a:off x="2661642" y="1981795"/>
            <a:ext cx="2678192" cy="334685"/>
          </a:xfrm>
          <a:prstGeom prst="rect">
            <a:avLst/>
          </a:prstGeom>
          <a:noFill/>
          <a:ln/>
        </p:spPr>
        <p:txBody>
          <a:bodyPr wrap="none" rtlCol="0" anchor="t"/>
          <a:lstStyle/>
          <a:p>
            <a:pPr marL="0" indent="0" algn="l">
              <a:lnSpc>
                <a:spcPts val="2636"/>
              </a:lnSpc>
              <a:buNone/>
            </a:pPr>
            <a:r>
              <a:rPr lang="en-US" sz="2109" dirty="0">
                <a:solidFill>
                  <a:srgbClr val="161613"/>
                </a:solidFill>
                <a:latin typeface="DM Sans" pitchFamily="34" charset="0"/>
                <a:ea typeface="DM Sans" pitchFamily="34" charset="-122"/>
                <a:cs typeface="DM Sans" pitchFamily="34" charset="-120"/>
              </a:rPr>
              <a:t>JAVA</a:t>
            </a:r>
            <a:endParaRPr lang="en-US" sz="2109" dirty="0"/>
          </a:p>
        </p:txBody>
      </p:sp>
      <p:sp>
        <p:nvSpPr>
          <p:cNvPr id="11" name="Text 9"/>
          <p:cNvSpPr/>
          <p:nvPr/>
        </p:nvSpPr>
        <p:spPr>
          <a:xfrm>
            <a:off x="2947154" y="2423517"/>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Classes and Objects</a:t>
            </a:r>
            <a:endParaRPr lang="en-US" sz="1406" dirty="0"/>
          </a:p>
        </p:txBody>
      </p:sp>
      <p:sp>
        <p:nvSpPr>
          <p:cNvPr id="12" name="Text 10"/>
          <p:cNvSpPr/>
          <p:nvPr/>
        </p:nvSpPr>
        <p:spPr>
          <a:xfrm>
            <a:off x="2947154" y="2771656"/>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Methods</a:t>
            </a:r>
            <a:endParaRPr lang="en-US" sz="1406" dirty="0"/>
          </a:p>
        </p:txBody>
      </p:sp>
      <p:sp>
        <p:nvSpPr>
          <p:cNvPr id="13" name="Text 11"/>
          <p:cNvSpPr/>
          <p:nvPr/>
        </p:nvSpPr>
        <p:spPr>
          <a:xfrm>
            <a:off x="2947154" y="3119795"/>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Constructors</a:t>
            </a:r>
            <a:endParaRPr lang="en-US" sz="1406" dirty="0"/>
          </a:p>
        </p:txBody>
      </p:sp>
      <p:sp>
        <p:nvSpPr>
          <p:cNvPr id="14" name="Text 12"/>
          <p:cNvSpPr/>
          <p:nvPr/>
        </p:nvSpPr>
        <p:spPr>
          <a:xfrm>
            <a:off x="2947154" y="3467933"/>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Interfaces</a:t>
            </a:r>
            <a:endParaRPr lang="en-US" sz="1406" dirty="0"/>
          </a:p>
        </p:txBody>
      </p:sp>
      <p:sp>
        <p:nvSpPr>
          <p:cNvPr id="15" name="Text 13"/>
          <p:cNvSpPr/>
          <p:nvPr/>
        </p:nvSpPr>
        <p:spPr>
          <a:xfrm>
            <a:off x="2947154" y="3816072"/>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Exception Handling</a:t>
            </a:r>
            <a:endParaRPr lang="en-US" sz="1406" dirty="0"/>
          </a:p>
        </p:txBody>
      </p:sp>
      <p:sp>
        <p:nvSpPr>
          <p:cNvPr id="16" name="Shape 14"/>
          <p:cNvSpPr/>
          <p:nvPr/>
        </p:nvSpPr>
        <p:spPr>
          <a:xfrm>
            <a:off x="1857613" y="4849058"/>
            <a:ext cx="624840" cy="22860"/>
          </a:xfrm>
          <a:prstGeom prst="roundRect">
            <a:avLst>
              <a:gd name="adj" fmla="val 117160"/>
            </a:avLst>
          </a:prstGeom>
          <a:solidFill>
            <a:srgbClr val="D3D1C9"/>
          </a:solidFill>
          <a:ln/>
        </p:spPr>
      </p:sp>
      <p:sp>
        <p:nvSpPr>
          <p:cNvPr id="17" name="Shape 15"/>
          <p:cNvSpPr/>
          <p:nvPr/>
        </p:nvSpPr>
        <p:spPr>
          <a:xfrm>
            <a:off x="1478756" y="4659630"/>
            <a:ext cx="401717" cy="401717"/>
          </a:xfrm>
          <a:prstGeom prst="roundRect">
            <a:avLst>
              <a:gd name="adj" fmla="val 6667"/>
            </a:avLst>
          </a:prstGeom>
          <a:solidFill>
            <a:srgbClr val="EDEBE3"/>
          </a:solidFill>
          <a:ln/>
        </p:spPr>
      </p:sp>
      <p:sp>
        <p:nvSpPr>
          <p:cNvPr id="18" name="Text 16"/>
          <p:cNvSpPr/>
          <p:nvPr/>
        </p:nvSpPr>
        <p:spPr>
          <a:xfrm>
            <a:off x="1602343" y="4726543"/>
            <a:ext cx="154543" cy="267772"/>
          </a:xfrm>
          <a:prstGeom prst="rect">
            <a:avLst/>
          </a:prstGeom>
          <a:noFill/>
          <a:ln/>
        </p:spPr>
        <p:txBody>
          <a:bodyPr wrap="none" rtlCol="0" anchor="t"/>
          <a:lstStyle/>
          <a:p>
            <a:pPr marL="0" indent="0" algn="ctr">
              <a:lnSpc>
                <a:spcPts val="2109"/>
              </a:lnSpc>
              <a:buNone/>
            </a:pPr>
            <a:r>
              <a:rPr lang="en-US" sz="2109" dirty="0">
                <a:solidFill>
                  <a:srgbClr val="161613"/>
                </a:solidFill>
                <a:latin typeface="DM Sans" pitchFamily="34" charset="0"/>
                <a:ea typeface="DM Sans" pitchFamily="34" charset="-122"/>
                <a:cs typeface="DM Sans" pitchFamily="34" charset="-120"/>
              </a:rPr>
              <a:t>2</a:t>
            </a:r>
            <a:endParaRPr lang="en-US" sz="2109" dirty="0"/>
          </a:p>
        </p:txBody>
      </p:sp>
      <p:sp>
        <p:nvSpPr>
          <p:cNvPr id="19" name="Text 17"/>
          <p:cNvSpPr/>
          <p:nvPr/>
        </p:nvSpPr>
        <p:spPr>
          <a:xfrm>
            <a:off x="2661642" y="4637246"/>
            <a:ext cx="2231827" cy="278963"/>
          </a:xfrm>
          <a:prstGeom prst="rect">
            <a:avLst/>
          </a:prstGeom>
          <a:noFill/>
          <a:ln/>
        </p:spPr>
        <p:txBody>
          <a:bodyPr wrap="none" rtlCol="0" anchor="t"/>
          <a:lstStyle/>
          <a:p>
            <a:pPr marL="0" indent="0" algn="l">
              <a:lnSpc>
                <a:spcPts val="2197"/>
              </a:lnSpc>
              <a:buNone/>
            </a:pPr>
            <a:r>
              <a:rPr lang="en-US" sz="1757" dirty="0">
                <a:solidFill>
                  <a:srgbClr val="161613"/>
                </a:solidFill>
                <a:latin typeface="DM Sans" pitchFamily="34" charset="0"/>
                <a:ea typeface="DM Sans" pitchFamily="34" charset="-122"/>
                <a:cs typeface="DM Sans" pitchFamily="34" charset="-120"/>
              </a:rPr>
              <a:t>Data Structure</a:t>
            </a:r>
            <a:endParaRPr lang="en-US" sz="1757" dirty="0"/>
          </a:p>
        </p:txBody>
      </p:sp>
      <p:sp>
        <p:nvSpPr>
          <p:cNvPr id="20" name="Text 18"/>
          <p:cNvSpPr/>
          <p:nvPr/>
        </p:nvSpPr>
        <p:spPr>
          <a:xfrm>
            <a:off x="2947154" y="5023247"/>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Doubly Linked List (DLL)</a:t>
            </a:r>
            <a:endParaRPr lang="en-US" sz="1406" dirty="0"/>
          </a:p>
        </p:txBody>
      </p:sp>
      <p:sp>
        <p:nvSpPr>
          <p:cNvPr id="21" name="Shape 19"/>
          <p:cNvSpPr/>
          <p:nvPr/>
        </p:nvSpPr>
        <p:spPr>
          <a:xfrm>
            <a:off x="1857613" y="6056233"/>
            <a:ext cx="624840" cy="22860"/>
          </a:xfrm>
          <a:prstGeom prst="roundRect">
            <a:avLst>
              <a:gd name="adj" fmla="val 117160"/>
            </a:avLst>
          </a:prstGeom>
          <a:solidFill>
            <a:srgbClr val="D3D1C9"/>
          </a:solidFill>
          <a:ln/>
        </p:spPr>
      </p:sp>
      <p:sp>
        <p:nvSpPr>
          <p:cNvPr id="22" name="Shape 20"/>
          <p:cNvSpPr/>
          <p:nvPr/>
        </p:nvSpPr>
        <p:spPr>
          <a:xfrm>
            <a:off x="1478756" y="5866805"/>
            <a:ext cx="401717" cy="401717"/>
          </a:xfrm>
          <a:prstGeom prst="roundRect">
            <a:avLst>
              <a:gd name="adj" fmla="val 6667"/>
            </a:avLst>
          </a:prstGeom>
          <a:solidFill>
            <a:srgbClr val="EDEBE3"/>
          </a:solidFill>
          <a:ln/>
        </p:spPr>
      </p:sp>
      <p:sp>
        <p:nvSpPr>
          <p:cNvPr id="23" name="Text 21"/>
          <p:cNvSpPr/>
          <p:nvPr/>
        </p:nvSpPr>
        <p:spPr>
          <a:xfrm>
            <a:off x="1600081" y="5933718"/>
            <a:ext cx="159068" cy="267772"/>
          </a:xfrm>
          <a:prstGeom prst="rect">
            <a:avLst/>
          </a:prstGeom>
          <a:noFill/>
          <a:ln/>
        </p:spPr>
        <p:txBody>
          <a:bodyPr wrap="none" rtlCol="0" anchor="t"/>
          <a:lstStyle/>
          <a:p>
            <a:pPr marL="0" indent="0" algn="ctr">
              <a:lnSpc>
                <a:spcPts val="2109"/>
              </a:lnSpc>
              <a:buNone/>
            </a:pPr>
            <a:r>
              <a:rPr lang="en-US" sz="2109" dirty="0">
                <a:solidFill>
                  <a:srgbClr val="161613"/>
                </a:solidFill>
                <a:latin typeface="DM Sans" pitchFamily="34" charset="0"/>
                <a:ea typeface="DM Sans" pitchFamily="34" charset="-122"/>
                <a:cs typeface="DM Sans" pitchFamily="34" charset="-120"/>
              </a:rPr>
              <a:t>3</a:t>
            </a:r>
            <a:endParaRPr lang="en-US" sz="2109" dirty="0"/>
          </a:p>
        </p:txBody>
      </p:sp>
      <p:sp>
        <p:nvSpPr>
          <p:cNvPr id="24" name="Text 22"/>
          <p:cNvSpPr/>
          <p:nvPr/>
        </p:nvSpPr>
        <p:spPr>
          <a:xfrm>
            <a:off x="2661642" y="5844421"/>
            <a:ext cx="2231827" cy="278963"/>
          </a:xfrm>
          <a:prstGeom prst="rect">
            <a:avLst/>
          </a:prstGeom>
          <a:noFill/>
          <a:ln/>
        </p:spPr>
        <p:txBody>
          <a:bodyPr wrap="none" rtlCol="0" anchor="t"/>
          <a:lstStyle/>
          <a:p>
            <a:pPr marL="0" indent="0" algn="l">
              <a:lnSpc>
                <a:spcPts val="2197"/>
              </a:lnSpc>
              <a:buNone/>
            </a:pPr>
            <a:r>
              <a:rPr lang="en-US" sz="1757" dirty="0">
                <a:solidFill>
                  <a:srgbClr val="161613"/>
                </a:solidFill>
                <a:latin typeface="DM Sans" pitchFamily="34" charset="0"/>
                <a:ea typeface="DM Sans" pitchFamily="34" charset="-122"/>
                <a:cs typeface="DM Sans" pitchFamily="34" charset="-120"/>
              </a:rPr>
              <a:t>DBMS</a:t>
            </a:r>
            <a:endParaRPr lang="en-US" sz="1757" dirty="0"/>
          </a:p>
        </p:txBody>
      </p:sp>
      <p:sp>
        <p:nvSpPr>
          <p:cNvPr id="25" name="Text 23"/>
          <p:cNvSpPr/>
          <p:nvPr/>
        </p:nvSpPr>
        <p:spPr>
          <a:xfrm>
            <a:off x="2947154" y="6230422"/>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Insert, Update Operation</a:t>
            </a:r>
            <a:endParaRPr lang="en-US" sz="1406" dirty="0"/>
          </a:p>
        </p:txBody>
      </p:sp>
      <p:sp>
        <p:nvSpPr>
          <p:cNvPr id="26" name="Text 24"/>
          <p:cNvSpPr/>
          <p:nvPr/>
        </p:nvSpPr>
        <p:spPr>
          <a:xfrm>
            <a:off x="2947154" y="6578560"/>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Prepared statement</a:t>
            </a:r>
            <a:endParaRPr lang="en-US" sz="1406" dirty="0"/>
          </a:p>
        </p:txBody>
      </p:sp>
      <p:sp>
        <p:nvSpPr>
          <p:cNvPr id="27" name="Text 25"/>
          <p:cNvSpPr/>
          <p:nvPr/>
        </p:nvSpPr>
        <p:spPr>
          <a:xfrm>
            <a:off x="2947154" y="6926699"/>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Callable Statement</a:t>
            </a:r>
            <a:endParaRPr lang="en-US" sz="1406" dirty="0"/>
          </a:p>
        </p:txBody>
      </p:sp>
      <p:sp>
        <p:nvSpPr>
          <p:cNvPr id="28" name="Text 26"/>
          <p:cNvSpPr/>
          <p:nvPr/>
        </p:nvSpPr>
        <p:spPr>
          <a:xfrm>
            <a:off x="2947154" y="7274838"/>
            <a:ext cx="10271403" cy="285750"/>
          </a:xfrm>
          <a:prstGeom prst="rect">
            <a:avLst/>
          </a:prstGeom>
          <a:noFill/>
          <a:ln/>
        </p:spPr>
        <p:txBody>
          <a:bodyPr wrap="none" rtlCol="0" anchor="t"/>
          <a:lstStyle/>
          <a:p>
            <a:pPr marL="342900" indent="-342900" algn="l">
              <a:lnSpc>
                <a:spcPts val="2249"/>
              </a:lnSpc>
              <a:buSzPct val="100000"/>
              <a:buChar char="•"/>
            </a:pPr>
            <a:r>
              <a:rPr lang="en-US" sz="1406" dirty="0">
                <a:solidFill>
                  <a:srgbClr val="161613"/>
                </a:solidFill>
                <a:latin typeface="Inter" pitchFamily="34" charset="0"/>
                <a:ea typeface="Inter" pitchFamily="34" charset="-122"/>
                <a:cs typeface="Inter" pitchFamily="34" charset="-120"/>
              </a:rPr>
              <a:t>Procedures</a:t>
            </a:r>
            <a:endParaRPr lang="en-US" sz="1406" dirty="0"/>
          </a:p>
        </p:txBody>
      </p:sp>
      <p:pic>
        <p:nvPicPr>
          <p:cNvPr id="29" name="Picture 28">
            <a:extLst>
              <a:ext uri="{FF2B5EF4-FFF2-40B4-BE49-F238E27FC236}">
                <a16:creationId xmlns:a16="http://schemas.microsoft.com/office/drawing/2014/main" id="{2D302CE0-2241-DDE4-C700-427892C1F8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30" name="Picture 29">
            <a:extLst>
              <a:ext uri="{FF2B5EF4-FFF2-40B4-BE49-F238E27FC236}">
                <a16:creationId xmlns:a16="http://schemas.microsoft.com/office/drawing/2014/main" id="{C39C74D9-EF9F-1DAA-306F-3772884A2035}"/>
              </a:ext>
            </a:extLst>
          </p:cNvPr>
          <p:cNvPicPr>
            <a:picLocks noChangeAspect="1"/>
          </p:cNvPicPr>
          <p:nvPr/>
        </p:nvPicPr>
        <p:blipFill rotWithShape="1">
          <a:blip r:embed="rId4">
            <a:extLst>
              <a:ext uri="{28A0092B-C50C-407E-A947-70E740481C1C}">
                <a14:useLocalDpi xmlns:a14="http://schemas.microsoft.com/office/drawing/2010/main" val="0"/>
              </a:ext>
            </a:extLst>
          </a:blip>
          <a:srcRect l="25791" t="16832" b="13861"/>
          <a:stretch/>
        </p:blipFill>
        <p:spPr>
          <a:xfrm>
            <a:off x="11477882" y="11151"/>
            <a:ext cx="3152518" cy="6038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p:cNvPicPr>
            <a:picLocks noChangeAspect="1"/>
          </p:cNvPicPr>
          <p:nvPr/>
        </p:nvPicPr>
        <p:blipFill>
          <a:blip r:embed="rId3"/>
          <a:stretch>
            <a:fillRect/>
          </a:stretch>
        </p:blipFill>
        <p:spPr>
          <a:xfrm>
            <a:off x="283488" y="2474952"/>
            <a:ext cx="4919305" cy="3279577"/>
          </a:xfrm>
          <a:prstGeom prst="rect">
            <a:avLst/>
          </a:prstGeom>
        </p:spPr>
      </p:pic>
      <p:sp>
        <p:nvSpPr>
          <p:cNvPr id="5" name="Text 2"/>
          <p:cNvSpPr/>
          <p:nvPr/>
        </p:nvSpPr>
        <p:spPr>
          <a:xfrm>
            <a:off x="6280190" y="1308140"/>
            <a:ext cx="5670590" cy="708779"/>
          </a:xfrm>
          <a:prstGeom prst="rect">
            <a:avLst/>
          </a:prstGeom>
          <a:noFill/>
          <a:ln/>
        </p:spPr>
        <p:txBody>
          <a:bodyPr wrap="none" rtlCol="0" anchor="t"/>
          <a:lstStyle/>
          <a:p>
            <a:pPr marL="0" indent="0">
              <a:lnSpc>
                <a:spcPts val="5581"/>
              </a:lnSpc>
              <a:buNone/>
            </a:pPr>
            <a:r>
              <a:rPr lang="en-US" sz="4465" dirty="0">
                <a:solidFill>
                  <a:srgbClr val="161613"/>
                </a:solidFill>
                <a:latin typeface="DM Sans" pitchFamily="34" charset="0"/>
                <a:ea typeface="DM Sans" pitchFamily="34" charset="-122"/>
                <a:cs typeface="DM Sans" pitchFamily="34" charset="-120"/>
              </a:rPr>
              <a:t>Usage of Java</a:t>
            </a:r>
            <a:endParaRPr lang="en-US" sz="4465" dirty="0"/>
          </a:p>
        </p:txBody>
      </p:sp>
      <p:sp>
        <p:nvSpPr>
          <p:cNvPr id="6" name="Text 3"/>
          <p:cNvSpPr/>
          <p:nvPr/>
        </p:nvSpPr>
        <p:spPr>
          <a:xfrm>
            <a:off x="6280190" y="2357080"/>
            <a:ext cx="7556421" cy="362903"/>
          </a:xfrm>
          <a:prstGeom prst="rect">
            <a:avLst/>
          </a:prstGeom>
          <a:noFill/>
          <a:ln/>
        </p:spPr>
        <p:txBody>
          <a:bodyPr wrap="none" rtlCol="0" anchor="t"/>
          <a:lstStyle/>
          <a:p>
            <a:pPr marL="0" indent="0">
              <a:lnSpc>
                <a:spcPts val="2858"/>
              </a:lnSpc>
              <a:buNone/>
            </a:pPr>
            <a:endParaRPr lang="en-US" sz="1786" dirty="0"/>
          </a:p>
        </p:txBody>
      </p:sp>
      <p:sp>
        <p:nvSpPr>
          <p:cNvPr id="7" name="Text 4"/>
          <p:cNvSpPr/>
          <p:nvPr/>
        </p:nvSpPr>
        <p:spPr>
          <a:xfrm>
            <a:off x="6643092" y="2975134"/>
            <a:ext cx="7193518" cy="725805"/>
          </a:xfrm>
          <a:prstGeom prst="rect">
            <a:avLst/>
          </a:prstGeom>
          <a:noFill/>
          <a:ln/>
        </p:spPr>
        <p:txBody>
          <a:bodyPr wrap="square" rtlCol="0" anchor="t"/>
          <a:lstStyle/>
          <a:p>
            <a:pPr marL="342900" indent="-342900" algn="l">
              <a:lnSpc>
                <a:spcPts val="2858"/>
              </a:lnSpc>
              <a:buSzPct val="100000"/>
              <a:buChar char="•"/>
            </a:pPr>
            <a:r>
              <a:rPr lang="en-US" sz="1786" b="1" dirty="0">
                <a:solidFill>
                  <a:srgbClr val="161613"/>
                </a:solidFill>
                <a:latin typeface="Inter" pitchFamily="34" charset="0"/>
                <a:ea typeface="Inter" pitchFamily="34" charset="-122"/>
                <a:cs typeface="Inter" pitchFamily="34" charset="-120"/>
              </a:rPr>
              <a:t>Classes :- </a:t>
            </a:r>
            <a:r>
              <a:rPr lang="en-US" sz="1786" dirty="0">
                <a:solidFill>
                  <a:srgbClr val="161613"/>
                </a:solidFill>
                <a:latin typeface="Inter" pitchFamily="34" charset="0"/>
                <a:ea typeface="Inter" pitchFamily="34" charset="-122"/>
                <a:cs typeface="Inter" pitchFamily="34" charset="-120"/>
              </a:rPr>
              <a:t>Main, Login_Register, Income, Expense, DatabaseConnection, Transactions, Goal</a:t>
            </a:r>
            <a:endParaRPr lang="en-US" sz="1786" dirty="0"/>
          </a:p>
        </p:txBody>
      </p:sp>
      <p:sp>
        <p:nvSpPr>
          <p:cNvPr id="8" name="Text 5"/>
          <p:cNvSpPr/>
          <p:nvPr/>
        </p:nvSpPr>
        <p:spPr>
          <a:xfrm>
            <a:off x="6643092" y="3780234"/>
            <a:ext cx="7193518" cy="362903"/>
          </a:xfrm>
          <a:prstGeom prst="rect">
            <a:avLst/>
          </a:prstGeom>
          <a:noFill/>
          <a:ln/>
        </p:spPr>
        <p:txBody>
          <a:bodyPr wrap="none" rtlCol="0" anchor="t"/>
          <a:lstStyle/>
          <a:p>
            <a:pPr marL="342900" indent="-342900" algn="l">
              <a:lnSpc>
                <a:spcPts val="2858"/>
              </a:lnSpc>
              <a:buSzPct val="100000"/>
              <a:buChar char="•"/>
            </a:pPr>
            <a:r>
              <a:rPr lang="en-US" sz="1786" b="1" dirty="0">
                <a:solidFill>
                  <a:srgbClr val="161613"/>
                </a:solidFill>
                <a:latin typeface="Inter" pitchFamily="34" charset="0"/>
                <a:ea typeface="Inter" pitchFamily="34" charset="-122"/>
                <a:cs typeface="Inter" pitchFamily="34" charset="-120"/>
              </a:rPr>
              <a:t>Constructor :-</a:t>
            </a:r>
            <a:r>
              <a:rPr lang="en-US" sz="1786" dirty="0">
                <a:solidFill>
                  <a:srgbClr val="161613"/>
                </a:solidFill>
                <a:latin typeface="Inter" pitchFamily="34" charset="0"/>
                <a:ea typeface="Inter" pitchFamily="34" charset="-122"/>
                <a:cs typeface="Inter" pitchFamily="34" charset="-120"/>
              </a:rPr>
              <a:t> Login_Register</a:t>
            </a:r>
            <a:endParaRPr lang="en-US" sz="1786" dirty="0"/>
          </a:p>
        </p:txBody>
      </p:sp>
      <p:sp>
        <p:nvSpPr>
          <p:cNvPr id="9" name="Text 6"/>
          <p:cNvSpPr/>
          <p:nvPr/>
        </p:nvSpPr>
        <p:spPr>
          <a:xfrm>
            <a:off x="6643092" y="4222433"/>
            <a:ext cx="7193518" cy="1451610"/>
          </a:xfrm>
          <a:prstGeom prst="rect">
            <a:avLst/>
          </a:prstGeom>
          <a:noFill/>
          <a:ln/>
        </p:spPr>
        <p:txBody>
          <a:bodyPr wrap="square" rtlCol="0" anchor="t"/>
          <a:lstStyle/>
          <a:p>
            <a:pPr marL="342900" indent="-342900" algn="l">
              <a:lnSpc>
                <a:spcPts val="2858"/>
              </a:lnSpc>
              <a:buSzPct val="100000"/>
              <a:buChar char="•"/>
            </a:pPr>
            <a:r>
              <a:rPr lang="en-US" sz="1786" b="1" dirty="0">
                <a:solidFill>
                  <a:srgbClr val="161613"/>
                </a:solidFill>
                <a:latin typeface="Inter" pitchFamily="34" charset="0"/>
                <a:ea typeface="Inter" pitchFamily="34" charset="-122"/>
                <a:cs typeface="Inter" pitchFamily="34" charset="-120"/>
              </a:rPr>
              <a:t>Methods :-</a:t>
            </a:r>
            <a:r>
              <a:rPr lang="en-US" sz="1786" dirty="0">
                <a:solidFill>
                  <a:srgbClr val="161613"/>
                </a:solidFill>
                <a:latin typeface="Inter" pitchFamily="34" charset="0"/>
                <a:ea typeface="Inter" pitchFamily="34" charset="-122"/>
                <a:cs typeface="Inter" pitchFamily="34" charset="-120"/>
              </a:rPr>
              <a:t> main(), loadUsersFromDatabase(), login(), resetPassword(), register(), addIncome(), addExpense(), viewTransactions(), setGoal(), addMoneyToGoal(), listOngoingGoals()</a:t>
            </a:r>
            <a:endParaRPr lang="en-US" sz="1786" dirty="0"/>
          </a:p>
        </p:txBody>
      </p:sp>
      <p:sp>
        <p:nvSpPr>
          <p:cNvPr id="10" name="Text 7"/>
          <p:cNvSpPr/>
          <p:nvPr/>
        </p:nvSpPr>
        <p:spPr>
          <a:xfrm>
            <a:off x="6643092" y="5753338"/>
            <a:ext cx="7193518" cy="362903"/>
          </a:xfrm>
          <a:prstGeom prst="rect">
            <a:avLst/>
          </a:prstGeom>
          <a:noFill/>
          <a:ln/>
        </p:spPr>
        <p:txBody>
          <a:bodyPr wrap="none" rtlCol="0" anchor="t"/>
          <a:lstStyle/>
          <a:p>
            <a:pPr marL="342900" indent="-342900" algn="l">
              <a:lnSpc>
                <a:spcPts val="2858"/>
              </a:lnSpc>
              <a:buSzPct val="100000"/>
              <a:buChar char="•"/>
            </a:pPr>
            <a:r>
              <a:rPr lang="en-US" sz="1786" b="1" dirty="0">
                <a:solidFill>
                  <a:srgbClr val="161613"/>
                </a:solidFill>
                <a:latin typeface="Inter" pitchFamily="34" charset="0"/>
                <a:ea typeface="Inter" pitchFamily="34" charset="-122"/>
                <a:cs typeface="Inter" pitchFamily="34" charset="-120"/>
              </a:rPr>
              <a:t>Interface :-</a:t>
            </a:r>
            <a:r>
              <a:rPr lang="en-US" sz="1786" dirty="0">
                <a:solidFill>
                  <a:srgbClr val="161613"/>
                </a:solidFill>
                <a:latin typeface="Inter" pitchFamily="34" charset="0"/>
                <a:ea typeface="Inter" pitchFamily="34" charset="-122"/>
                <a:cs typeface="Inter" pitchFamily="34" charset="-120"/>
              </a:rPr>
              <a:t> IIncome, IExpense, interface ITransactions, IGoal</a:t>
            </a:r>
            <a:endParaRPr lang="en-US" sz="1786" dirty="0"/>
          </a:p>
        </p:txBody>
      </p:sp>
      <p:sp>
        <p:nvSpPr>
          <p:cNvPr id="11" name="Text 8"/>
          <p:cNvSpPr/>
          <p:nvPr/>
        </p:nvSpPr>
        <p:spPr>
          <a:xfrm>
            <a:off x="6643092" y="6195536"/>
            <a:ext cx="7193518" cy="725805"/>
          </a:xfrm>
          <a:prstGeom prst="rect">
            <a:avLst/>
          </a:prstGeom>
          <a:noFill/>
          <a:ln/>
        </p:spPr>
        <p:txBody>
          <a:bodyPr wrap="square" rtlCol="0" anchor="t"/>
          <a:lstStyle/>
          <a:p>
            <a:pPr marL="342900" indent="-342900" algn="l">
              <a:lnSpc>
                <a:spcPts val="2858"/>
              </a:lnSpc>
              <a:buSzPct val="100000"/>
              <a:buChar char="•"/>
            </a:pPr>
            <a:r>
              <a:rPr lang="en-US" sz="1786" b="1" dirty="0">
                <a:solidFill>
                  <a:srgbClr val="161613"/>
                </a:solidFill>
                <a:latin typeface="Inter" pitchFamily="34" charset="0"/>
                <a:ea typeface="Inter" pitchFamily="34" charset="-122"/>
                <a:cs typeface="Inter" pitchFamily="34" charset="-120"/>
              </a:rPr>
              <a:t>Exception Handling </a:t>
            </a:r>
            <a:r>
              <a:rPr lang="en-US" sz="1786" dirty="0">
                <a:solidFill>
                  <a:srgbClr val="161613"/>
                </a:solidFill>
                <a:latin typeface="Inter" pitchFamily="34" charset="0"/>
                <a:ea typeface="Inter" pitchFamily="34" charset="-122"/>
                <a:cs typeface="Inter" pitchFamily="34" charset="-120"/>
              </a:rPr>
              <a:t>: Managing exceptions, particularly SQL exceptions, using try-catch.</a:t>
            </a:r>
            <a:endParaRPr lang="en-US" sz="1786" dirty="0"/>
          </a:p>
        </p:txBody>
      </p:sp>
      <p:pic>
        <p:nvPicPr>
          <p:cNvPr id="12" name="Picture 11">
            <a:extLst>
              <a:ext uri="{FF2B5EF4-FFF2-40B4-BE49-F238E27FC236}">
                <a16:creationId xmlns:a16="http://schemas.microsoft.com/office/drawing/2014/main" id="{060BDAA8-DA95-B444-27BC-E52BD5D601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13" name="Picture 12">
            <a:extLst>
              <a:ext uri="{FF2B5EF4-FFF2-40B4-BE49-F238E27FC236}">
                <a16:creationId xmlns:a16="http://schemas.microsoft.com/office/drawing/2014/main" id="{67E32910-D762-DB40-4237-9D2C91741C7D}"/>
              </a:ext>
            </a:extLst>
          </p:cNvPr>
          <p:cNvPicPr>
            <a:picLocks noChangeAspect="1"/>
          </p:cNvPicPr>
          <p:nvPr/>
        </p:nvPicPr>
        <p:blipFill rotWithShape="1">
          <a:blip r:embed="rId5">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5" name="Image 1" descr="preencoded.png"/>
          <p:cNvPicPr>
            <a:picLocks noChangeAspect="1"/>
          </p:cNvPicPr>
          <p:nvPr/>
        </p:nvPicPr>
        <p:blipFill>
          <a:blip r:embed="rId4"/>
          <a:stretch>
            <a:fillRect/>
          </a:stretch>
        </p:blipFill>
        <p:spPr>
          <a:xfrm>
            <a:off x="9427488" y="1655088"/>
            <a:ext cx="4919424" cy="4919424"/>
          </a:xfrm>
          <a:prstGeom prst="rect">
            <a:avLst/>
          </a:prstGeom>
        </p:spPr>
      </p:pic>
      <p:sp>
        <p:nvSpPr>
          <p:cNvPr id="6" name="Text 2"/>
          <p:cNvSpPr/>
          <p:nvPr/>
        </p:nvSpPr>
        <p:spPr>
          <a:xfrm>
            <a:off x="793790" y="1980248"/>
            <a:ext cx="6379131" cy="708779"/>
          </a:xfrm>
          <a:prstGeom prst="rect">
            <a:avLst/>
          </a:prstGeom>
          <a:noFill/>
          <a:ln/>
        </p:spPr>
        <p:txBody>
          <a:bodyPr wrap="none" rtlCol="0" anchor="t"/>
          <a:lstStyle/>
          <a:p>
            <a:pPr marL="0" indent="0">
              <a:lnSpc>
                <a:spcPts val="5581"/>
              </a:lnSpc>
              <a:buNone/>
            </a:pPr>
            <a:r>
              <a:rPr lang="en-US" sz="4465" dirty="0">
                <a:solidFill>
                  <a:srgbClr val="161613"/>
                </a:solidFill>
                <a:latin typeface="DM Sans" pitchFamily="34" charset="0"/>
                <a:ea typeface="DM Sans" pitchFamily="34" charset="-122"/>
                <a:cs typeface="DM Sans" pitchFamily="34" charset="-120"/>
              </a:rPr>
              <a:t>Usage of Data Structure</a:t>
            </a:r>
            <a:endParaRPr lang="en-US" sz="4465" dirty="0"/>
          </a:p>
        </p:txBody>
      </p:sp>
      <p:sp>
        <p:nvSpPr>
          <p:cNvPr id="7" name="Text 3"/>
          <p:cNvSpPr/>
          <p:nvPr/>
        </p:nvSpPr>
        <p:spPr>
          <a:xfrm>
            <a:off x="793790" y="3029188"/>
            <a:ext cx="7556421" cy="362903"/>
          </a:xfrm>
          <a:prstGeom prst="rect">
            <a:avLst/>
          </a:prstGeom>
          <a:noFill/>
          <a:ln/>
        </p:spPr>
        <p:txBody>
          <a:bodyPr wrap="none" rtlCol="0" anchor="t"/>
          <a:lstStyle/>
          <a:p>
            <a:pPr marL="0" indent="0">
              <a:lnSpc>
                <a:spcPts val="2858"/>
              </a:lnSpc>
              <a:buNone/>
            </a:pPr>
            <a:endParaRPr lang="en-US" sz="1786" dirty="0"/>
          </a:p>
        </p:txBody>
      </p:sp>
      <p:sp>
        <p:nvSpPr>
          <p:cNvPr id="8" name="Text 4"/>
          <p:cNvSpPr/>
          <p:nvPr/>
        </p:nvSpPr>
        <p:spPr>
          <a:xfrm>
            <a:off x="793790" y="3647242"/>
            <a:ext cx="7556421" cy="453509"/>
          </a:xfrm>
          <a:prstGeom prst="rect">
            <a:avLst/>
          </a:prstGeom>
          <a:noFill/>
          <a:ln/>
        </p:spPr>
        <p:txBody>
          <a:bodyPr wrap="none" rtlCol="0" anchor="t"/>
          <a:lstStyle/>
          <a:p>
            <a:pPr marL="0" indent="0">
              <a:lnSpc>
                <a:spcPts val="3572"/>
              </a:lnSpc>
              <a:buNone/>
            </a:pPr>
            <a:r>
              <a:rPr lang="en-US" sz="2233" b="1" dirty="0">
                <a:solidFill>
                  <a:srgbClr val="161613"/>
                </a:solidFill>
                <a:latin typeface="Inter" pitchFamily="34" charset="0"/>
                <a:ea typeface="Inter" pitchFamily="34" charset="-122"/>
                <a:cs typeface="Inter" pitchFamily="34" charset="-120"/>
              </a:rPr>
              <a:t>Doubly Linked list</a:t>
            </a:r>
            <a:endParaRPr lang="en-US" sz="2233" dirty="0"/>
          </a:p>
        </p:txBody>
      </p:sp>
      <p:sp>
        <p:nvSpPr>
          <p:cNvPr id="9" name="Text 5"/>
          <p:cNvSpPr/>
          <p:nvPr/>
        </p:nvSpPr>
        <p:spPr>
          <a:xfrm>
            <a:off x="1247299" y="4355902"/>
            <a:ext cx="7102912" cy="907018"/>
          </a:xfrm>
          <a:prstGeom prst="rect">
            <a:avLst/>
          </a:prstGeom>
          <a:noFill/>
          <a:ln/>
        </p:spPr>
        <p:txBody>
          <a:bodyPr wrap="square" rtlCol="0" anchor="t"/>
          <a:lstStyle/>
          <a:p>
            <a:pPr marL="342900" indent="-342900" algn="l">
              <a:lnSpc>
                <a:spcPts val="3572"/>
              </a:lnSpc>
              <a:buSzPct val="100000"/>
              <a:buChar char="•"/>
            </a:pPr>
            <a:r>
              <a:rPr lang="en-US" sz="2233" b="1" dirty="0">
                <a:solidFill>
                  <a:srgbClr val="161613"/>
                </a:solidFill>
                <a:latin typeface="Inter" pitchFamily="34" charset="0"/>
                <a:ea typeface="Inter" pitchFamily="34" charset="-122"/>
                <a:cs typeface="Inter" pitchFamily="34" charset="-120"/>
              </a:rPr>
              <a:t>Methods :-</a:t>
            </a:r>
            <a:r>
              <a:rPr lang="en-US" sz="2233" dirty="0">
                <a:solidFill>
                  <a:srgbClr val="161613"/>
                </a:solidFill>
                <a:latin typeface="Inter" pitchFamily="34" charset="0"/>
                <a:ea typeface="Inter" pitchFamily="34" charset="-122"/>
                <a:cs typeface="Inter" pitchFamily="34" charset="-120"/>
              </a:rPr>
              <a:t> insertAtFirst(), insertAtLast(), insertAtLast(), display(), find()</a:t>
            </a:r>
            <a:endParaRPr lang="en-US" sz="2233" dirty="0"/>
          </a:p>
        </p:txBody>
      </p:sp>
      <p:sp>
        <p:nvSpPr>
          <p:cNvPr id="10" name="Text 6"/>
          <p:cNvSpPr/>
          <p:nvPr/>
        </p:nvSpPr>
        <p:spPr>
          <a:xfrm>
            <a:off x="1247299" y="5342215"/>
            <a:ext cx="7102912" cy="907018"/>
          </a:xfrm>
          <a:prstGeom prst="rect">
            <a:avLst/>
          </a:prstGeom>
          <a:noFill/>
          <a:ln/>
        </p:spPr>
        <p:txBody>
          <a:bodyPr wrap="square" rtlCol="0" anchor="t"/>
          <a:lstStyle/>
          <a:p>
            <a:pPr marL="342900" indent="-342900" algn="l">
              <a:lnSpc>
                <a:spcPts val="3572"/>
              </a:lnSpc>
              <a:buSzPct val="100000"/>
              <a:buChar char="•"/>
            </a:pPr>
            <a:r>
              <a:rPr lang="en-US" sz="2233" dirty="0">
                <a:solidFill>
                  <a:srgbClr val="161613"/>
                </a:solidFill>
                <a:latin typeface="Inter" pitchFamily="34" charset="0"/>
                <a:ea typeface="Inter" pitchFamily="34" charset="-122"/>
                <a:cs typeface="Inter" pitchFamily="34" charset="-120"/>
              </a:rPr>
              <a:t>Implementing a custom doubly linked list for managing </a:t>
            </a:r>
            <a:r>
              <a:rPr lang="en-US" sz="2233" b="1" dirty="0">
                <a:solidFill>
                  <a:srgbClr val="161613"/>
                </a:solidFill>
                <a:latin typeface="Inter" pitchFamily="34" charset="0"/>
                <a:ea typeface="Inter" pitchFamily="34" charset="-122"/>
                <a:cs typeface="Inter" pitchFamily="34" charset="-120"/>
              </a:rPr>
              <a:t>user data </a:t>
            </a:r>
            <a:r>
              <a:rPr lang="en-US" sz="2233" dirty="0">
                <a:solidFill>
                  <a:srgbClr val="161613"/>
                </a:solidFill>
                <a:latin typeface="Inter" pitchFamily="34" charset="0"/>
                <a:ea typeface="Inter" pitchFamily="34" charset="-122"/>
                <a:cs typeface="Inter" pitchFamily="34" charset="-120"/>
              </a:rPr>
              <a:t>and </a:t>
            </a:r>
            <a:r>
              <a:rPr lang="en-US" sz="2233" b="1" dirty="0">
                <a:solidFill>
                  <a:srgbClr val="161613"/>
                </a:solidFill>
                <a:latin typeface="Inter" pitchFamily="34" charset="0"/>
                <a:ea typeface="Inter" pitchFamily="34" charset="-122"/>
                <a:cs typeface="Inter" pitchFamily="34" charset="-120"/>
              </a:rPr>
              <a:t>Transaction</a:t>
            </a:r>
            <a:r>
              <a:rPr lang="en-US" sz="2233" dirty="0">
                <a:solidFill>
                  <a:srgbClr val="161613"/>
                </a:solidFill>
                <a:latin typeface="Inter" pitchFamily="34" charset="0"/>
                <a:ea typeface="Inter" pitchFamily="34" charset="-122"/>
                <a:cs typeface="Inter" pitchFamily="34" charset="-120"/>
              </a:rPr>
              <a:t>.</a:t>
            </a:r>
            <a:endParaRPr lang="en-US" sz="2233" dirty="0"/>
          </a:p>
        </p:txBody>
      </p:sp>
      <p:pic>
        <p:nvPicPr>
          <p:cNvPr id="11" name="Picture 10">
            <a:extLst>
              <a:ext uri="{FF2B5EF4-FFF2-40B4-BE49-F238E27FC236}">
                <a16:creationId xmlns:a16="http://schemas.microsoft.com/office/drawing/2014/main" id="{94A34E4E-ED52-5439-94FC-A68B5A28F7C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12" name="Picture 11">
            <a:extLst>
              <a:ext uri="{FF2B5EF4-FFF2-40B4-BE49-F238E27FC236}">
                <a16:creationId xmlns:a16="http://schemas.microsoft.com/office/drawing/2014/main" id="{D5C566C4-16DB-5A59-14FE-2E418765BB9A}"/>
              </a:ext>
            </a:extLst>
          </p:cNvPr>
          <p:cNvPicPr>
            <a:picLocks noChangeAspect="1"/>
          </p:cNvPicPr>
          <p:nvPr/>
        </p:nvPicPr>
        <p:blipFill rotWithShape="1">
          <a:blip r:embed="rId6">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232565" y="757118"/>
            <a:ext cx="5330071" cy="666274"/>
          </a:xfrm>
          <a:prstGeom prst="rect">
            <a:avLst/>
          </a:prstGeom>
          <a:noFill/>
          <a:ln/>
        </p:spPr>
        <p:txBody>
          <a:bodyPr wrap="none" rtlCol="0" anchor="t"/>
          <a:lstStyle/>
          <a:p>
            <a:pPr marL="0" indent="0">
              <a:lnSpc>
                <a:spcPts val="5246"/>
              </a:lnSpc>
              <a:buNone/>
            </a:pPr>
            <a:r>
              <a:rPr lang="en-US" sz="4197" dirty="0">
                <a:solidFill>
                  <a:srgbClr val="161613"/>
                </a:solidFill>
                <a:latin typeface="DM Sans" pitchFamily="34" charset="0"/>
                <a:ea typeface="DM Sans" pitchFamily="34" charset="-122"/>
                <a:cs typeface="DM Sans" pitchFamily="34" charset="-120"/>
              </a:rPr>
              <a:t>Usage of DBMS</a:t>
            </a:r>
            <a:endParaRPr lang="en-US" sz="4197" dirty="0"/>
          </a:p>
        </p:txBody>
      </p:sp>
      <p:sp>
        <p:nvSpPr>
          <p:cNvPr id="6" name="Text 3"/>
          <p:cNvSpPr/>
          <p:nvPr/>
        </p:nvSpPr>
        <p:spPr>
          <a:xfrm>
            <a:off x="6232565" y="1743194"/>
            <a:ext cx="7651671" cy="341114"/>
          </a:xfrm>
          <a:prstGeom prst="rect">
            <a:avLst/>
          </a:prstGeom>
          <a:noFill/>
          <a:ln/>
        </p:spPr>
        <p:txBody>
          <a:bodyPr wrap="none" rtlCol="0" anchor="t"/>
          <a:lstStyle/>
          <a:p>
            <a:pPr marL="0" indent="0">
              <a:lnSpc>
                <a:spcPts val="2686"/>
              </a:lnSpc>
              <a:buNone/>
            </a:pPr>
            <a:endParaRPr lang="en-US" sz="1679" dirty="0"/>
          </a:p>
        </p:txBody>
      </p:sp>
      <p:sp>
        <p:nvSpPr>
          <p:cNvPr id="7" name="Text 4"/>
          <p:cNvSpPr/>
          <p:nvPr/>
        </p:nvSpPr>
        <p:spPr>
          <a:xfrm>
            <a:off x="6573560" y="2324100"/>
            <a:ext cx="7310676" cy="682228"/>
          </a:xfrm>
          <a:prstGeom prst="rect">
            <a:avLst/>
          </a:prstGeom>
          <a:noFill/>
          <a:ln/>
        </p:spPr>
        <p:txBody>
          <a:bodyPr wrap="square" rtlCol="0" anchor="t"/>
          <a:lstStyle/>
          <a:p>
            <a:pPr marL="342900" indent="-342900" algn="l">
              <a:lnSpc>
                <a:spcPts val="2686"/>
              </a:lnSpc>
              <a:buSzPct val="100000"/>
              <a:buChar char="•"/>
            </a:pPr>
            <a:r>
              <a:rPr lang="en-US" sz="1679" b="1" dirty="0">
                <a:solidFill>
                  <a:srgbClr val="161613"/>
                </a:solidFill>
                <a:latin typeface="Inter" pitchFamily="34" charset="0"/>
                <a:ea typeface="Inter" pitchFamily="34" charset="-122"/>
                <a:cs typeface="Inter" pitchFamily="34" charset="-120"/>
              </a:rPr>
              <a:t>SQL Queries</a:t>
            </a:r>
            <a:r>
              <a:rPr lang="en-US" sz="1679" dirty="0">
                <a:solidFill>
                  <a:srgbClr val="161613"/>
                </a:solidFill>
                <a:latin typeface="Inter" pitchFamily="34" charset="0"/>
                <a:ea typeface="Inter" pitchFamily="34" charset="-122"/>
                <a:cs typeface="Inter" pitchFamily="34" charset="-120"/>
              </a:rPr>
              <a:t>: For retrieving, inserting, and updating data in tables like Users, Goals, and Transaction.</a:t>
            </a:r>
            <a:endParaRPr lang="en-US" sz="1679" dirty="0"/>
          </a:p>
        </p:txBody>
      </p:sp>
      <p:sp>
        <p:nvSpPr>
          <p:cNvPr id="8" name="Text 5"/>
          <p:cNvSpPr/>
          <p:nvPr/>
        </p:nvSpPr>
        <p:spPr>
          <a:xfrm>
            <a:off x="6573560" y="3080861"/>
            <a:ext cx="7310676" cy="682228"/>
          </a:xfrm>
          <a:prstGeom prst="rect">
            <a:avLst/>
          </a:prstGeom>
          <a:noFill/>
          <a:ln/>
        </p:spPr>
        <p:txBody>
          <a:bodyPr wrap="square" rtlCol="0" anchor="t"/>
          <a:lstStyle/>
          <a:p>
            <a:pPr marL="342900" indent="-342900" algn="l">
              <a:lnSpc>
                <a:spcPts val="2686"/>
              </a:lnSpc>
              <a:buSzPct val="100000"/>
              <a:buChar char="•"/>
            </a:pPr>
            <a:r>
              <a:rPr lang="en-US" sz="1679" b="1" dirty="0">
                <a:solidFill>
                  <a:srgbClr val="161613"/>
                </a:solidFill>
                <a:latin typeface="Inter" pitchFamily="34" charset="0"/>
                <a:ea typeface="Inter" pitchFamily="34" charset="-122"/>
                <a:cs typeface="Inter" pitchFamily="34" charset="-120"/>
              </a:rPr>
              <a:t>JDBC</a:t>
            </a:r>
            <a:r>
              <a:rPr lang="en-US" sz="1679" dirty="0">
                <a:solidFill>
                  <a:srgbClr val="161613"/>
                </a:solidFill>
                <a:latin typeface="Inter" pitchFamily="34" charset="0"/>
                <a:ea typeface="Inter" pitchFamily="34" charset="-122"/>
                <a:cs typeface="Inter" pitchFamily="34" charset="-120"/>
              </a:rPr>
              <a:t>: Manages database connections and executes parameterized queries using Prepared Statement.</a:t>
            </a:r>
            <a:endParaRPr lang="en-US" sz="1679" dirty="0"/>
          </a:p>
        </p:txBody>
      </p:sp>
      <p:sp>
        <p:nvSpPr>
          <p:cNvPr id="9" name="Text 6"/>
          <p:cNvSpPr/>
          <p:nvPr/>
        </p:nvSpPr>
        <p:spPr>
          <a:xfrm>
            <a:off x="6573560" y="3837623"/>
            <a:ext cx="7310676" cy="682228"/>
          </a:xfrm>
          <a:prstGeom prst="rect">
            <a:avLst/>
          </a:prstGeom>
          <a:noFill/>
          <a:ln/>
        </p:spPr>
        <p:txBody>
          <a:bodyPr wrap="square" rtlCol="0" anchor="t"/>
          <a:lstStyle/>
          <a:p>
            <a:pPr marL="342900" indent="-342900" algn="l">
              <a:lnSpc>
                <a:spcPts val="2686"/>
              </a:lnSpc>
              <a:buSzPct val="100000"/>
              <a:buChar char="•"/>
            </a:pPr>
            <a:r>
              <a:rPr lang="en-US" sz="1679" b="1" dirty="0">
                <a:solidFill>
                  <a:srgbClr val="161613"/>
                </a:solidFill>
                <a:latin typeface="Inter" pitchFamily="34" charset="0"/>
                <a:ea typeface="Inter" pitchFamily="34" charset="-122"/>
                <a:cs typeface="Inter" pitchFamily="34" charset="-120"/>
              </a:rPr>
              <a:t>User Authentication</a:t>
            </a:r>
            <a:r>
              <a:rPr lang="en-US" sz="1679" dirty="0">
                <a:solidFill>
                  <a:srgbClr val="161613"/>
                </a:solidFill>
                <a:latin typeface="Inter" pitchFamily="34" charset="0"/>
                <a:ea typeface="Inter" pitchFamily="34" charset="-122"/>
                <a:cs typeface="Inter" pitchFamily="34" charset="-120"/>
              </a:rPr>
              <a:t>: Validates user credentials against the database during login.</a:t>
            </a:r>
            <a:endParaRPr lang="en-US" sz="1679" dirty="0"/>
          </a:p>
        </p:txBody>
      </p:sp>
      <p:sp>
        <p:nvSpPr>
          <p:cNvPr id="10" name="Text 7"/>
          <p:cNvSpPr/>
          <p:nvPr/>
        </p:nvSpPr>
        <p:spPr>
          <a:xfrm>
            <a:off x="6573560" y="4594384"/>
            <a:ext cx="7310676" cy="682228"/>
          </a:xfrm>
          <a:prstGeom prst="rect">
            <a:avLst/>
          </a:prstGeom>
          <a:noFill/>
          <a:ln/>
        </p:spPr>
        <p:txBody>
          <a:bodyPr wrap="square" rtlCol="0" anchor="t"/>
          <a:lstStyle/>
          <a:p>
            <a:pPr marL="342900" indent="-342900" algn="l">
              <a:lnSpc>
                <a:spcPts val="2686"/>
              </a:lnSpc>
              <a:buSzPct val="100000"/>
              <a:buChar char="•"/>
            </a:pPr>
            <a:r>
              <a:rPr lang="en-US" sz="1679" b="1" dirty="0">
                <a:solidFill>
                  <a:srgbClr val="161613"/>
                </a:solidFill>
                <a:latin typeface="Inter" pitchFamily="34" charset="0"/>
                <a:ea typeface="Inter" pitchFamily="34" charset="-122"/>
                <a:cs typeface="Inter" pitchFamily="34" charset="-120"/>
              </a:rPr>
              <a:t>CRUD Operations</a:t>
            </a:r>
            <a:r>
              <a:rPr lang="en-US" sz="1679" dirty="0">
                <a:solidFill>
                  <a:srgbClr val="161613"/>
                </a:solidFill>
                <a:latin typeface="Inter" pitchFamily="34" charset="0"/>
                <a:ea typeface="Inter" pitchFamily="34" charset="-122"/>
                <a:cs typeface="Inter" pitchFamily="34" charset="-120"/>
              </a:rPr>
              <a:t>: Supports creating, reading, and updating records in the database.</a:t>
            </a:r>
            <a:endParaRPr lang="en-US" sz="1679" dirty="0"/>
          </a:p>
        </p:txBody>
      </p:sp>
      <p:sp>
        <p:nvSpPr>
          <p:cNvPr id="11" name="Text 8"/>
          <p:cNvSpPr/>
          <p:nvPr/>
        </p:nvSpPr>
        <p:spPr>
          <a:xfrm>
            <a:off x="6573560" y="5351145"/>
            <a:ext cx="7310676" cy="682228"/>
          </a:xfrm>
          <a:prstGeom prst="rect">
            <a:avLst/>
          </a:prstGeom>
          <a:noFill/>
          <a:ln/>
        </p:spPr>
        <p:txBody>
          <a:bodyPr wrap="square" rtlCol="0" anchor="t"/>
          <a:lstStyle/>
          <a:p>
            <a:pPr marL="342900" indent="-342900" algn="l">
              <a:lnSpc>
                <a:spcPts val="2686"/>
              </a:lnSpc>
              <a:buSzPct val="100000"/>
              <a:buChar char="•"/>
            </a:pPr>
            <a:r>
              <a:rPr lang="en-US" sz="1679" b="1" dirty="0">
                <a:solidFill>
                  <a:srgbClr val="161613"/>
                </a:solidFill>
                <a:latin typeface="Inter" pitchFamily="34" charset="0"/>
                <a:ea typeface="Inter" pitchFamily="34" charset="-122"/>
                <a:cs typeface="Inter" pitchFamily="34" charset="-120"/>
              </a:rPr>
              <a:t>Connection Management</a:t>
            </a:r>
            <a:r>
              <a:rPr lang="en-US" sz="1679" dirty="0">
                <a:solidFill>
                  <a:srgbClr val="161613"/>
                </a:solidFill>
                <a:latin typeface="Inter" pitchFamily="34" charset="0"/>
                <a:ea typeface="Inter" pitchFamily="34" charset="-122"/>
                <a:cs typeface="Inter" pitchFamily="34" charset="-120"/>
              </a:rPr>
              <a:t>: Ensures efficient handling of database resources.</a:t>
            </a:r>
            <a:endParaRPr lang="en-US" sz="1679" dirty="0"/>
          </a:p>
        </p:txBody>
      </p:sp>
      <p:sp>
        <p:nvSpPr>
          <p:cNvPr id="12" name="Text 9"/>
          <p:cNvSpPr/>
          <p:nvPr/>
        </p:nvSpPr>
        <p:spPr>
          <a:xfrm>
            <a:off x="6573560" y="6107906"/>
            <a:ext cx="7310676" cy="1364456"/>
          </a:xfrm>
          <a:prstGeom prst="rect">
            <a:avLst/>
          </a:prstGeom>
          <a:noFill/>
          <a:ln/>
        </p:spPr>
        <p:txBody>
          <a:bodyPr wrap="square" rtlCol="0" anchor="t"/>
          <a:lstStyle/>
          <a:p>
            <a:pPr marL="342900" indent="-342900" algn="l">
              <a:lnSpc>
                <a:spcPts val="2686"/>
              </a:lnSpc>
              <a:buSzPct val="100000"/>
              <a:buChar char="•"/>
            </a:pPr>
            <a:r>
              <a:rPr lang="en-US" sz="1679" dirty="0">
                <a:solidFill>
                  <a:srgbClr val="161613"/>
                </a:solidFill>
                <a:latin typeface="Inter" pitchFamily="34" charset="0"/>
                <a:ea typeface="Inter" pitchFamily="34" charset="-122"/>
                <a:cs typeface="Inter" pitchFamily="34" charset="-120"/>
              </a:rPr>
              <a:t>The project also utilizes </a:t>
            </a:r>
            <a:r>
              <a:rPr lang="en-US" sz="1679" b="1" dirty="0">
                <a:solidFill>
                  <a:srgbClr val="161613"/>
                </a:solidFill>
                <a:latin typeface="Inter" pitchFamily="34" charset="0"/>
                <a:ea typeface="Inter" pitchFamily="34" charset="-122"/>
                <a:cs typeface="Inter" pitchFamily="34" charset="-120"/>
              </a:rPr>
              <a:t>Stored Procedures</a:t>
            </a:r>
            <a:r>
              <a:rPr lang="en-US" sz="1679" dirty="0">
                <a:solidFill>
                  <a:srgbClr val="161613"/>
                </a:solidFill>
                <a:latin typeface="Inter" pitchFamily="34" charset="0"/>
                <a:ea typeface="Inter" pitchFamily="34" charset="-122"/>
                <a:cs typeface="Inter" pitchFamily="34" charset="-120"/>
              </a:rPr>
              <a:t> for database operations, further enhancing the efficiency and modularity of SQL code execution. This integration supports complex queries and operations directly within the database, reducing client-side processing.</a:t>
            </a:r>
            <a:endParaRPr lang="en-US" sz="1679" dirty="0"/>
          </a:p>
        </p:txBody>
      </p:sp>
      <p:pic>
        <p:nvPicPr>
          <p:cNvPr id="13" name="Picture 12">
            <a:extLst>
              <a:ext uri="{FF2B5EF4-FFF2-40B4-BE49-F238E27FC236}">
                <a16:creationId xmlns:a16="http://schemas.microsoft.com/office/drawing/2014/main" id="{7F8E25FF-9211-297B-1E88-A8FDC09E67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14" name="Picture 13">
            <a:extLst>
              <a:ext uri="{FF2B5EF4-FFF2-40B4-BE49-F238E27FC236}">
                <a16:creationId xmlns:a16="http://schemas.microsoft.com/office/drawing/2014/main" id="{CB6EC105-9E15-7565-5ABB-9025B0275472}"/>
              </a:ext>
            </a:extLst>
          </p:cNvPr>
          <p:cNvPicPr>
            <a:picLocks noChangeAspect="1"/>
          </p:cNvPicPr>
          <p:nvPr/>
        </p:nvPicPr>
        <p:blipFill rotWithShape="1">
          <a:blip r:embed="rId5">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
        <p:nvSpPr>
          <p:cNvPr id="4" name="Text 2"/>
          <p:cNvSpPr/>
          <p:nvPr/>
        </p:nvSpPr>
        <p:spPr>
          <a:xfrm>
            <a:off x="4479846" y="1495425"/>
            <a:ext cx="5670590" cy="708779"/>
          </a:xfrm>
          <a:prstGeom prst="rect">
            <a:avLst/>
          </a:prstGeom>
          <a:noFill/>
          <a:ln/>
        </p:spPr>
        <p:txBody>
          <a:bodyPr wrap="none" rtlCol="0" anchor="t"/>
          <a:lstStyle/>
          <a:p>
            <a:pPr marL="0" indent="0" algn="ctr">
              <a:lnSpc>
                <a:spcPts val="5581"/>
              </a:lnSpc>
              <a:buNone/>
            </a:pPr>
            <a:r>
              <a:rPr lang="en-US" sz="4465" dirty="0">
                <a:solidFill>
                  <a:srgbClr val="161613"/>
                </a:solidFill>
                <a:latin typeface="DM Sans" pitchFamily="34" charset="0"/>
                <a:ea typeface="DM Sans" pitchFamily="34" charset="-122"/>
                <a:cs typeface="DM Sans" pitchFamily="34" charset="-120"/>
              </a:rPr>
              <a:t>Advantages</a:t>
            </a:r>
            <a:endParaRPr lang="en-US" sz="4465" dirty="0"/>
          </a:p>
        </p:txBody>
      </p:sp>
      <p:sp>
        <p:nvSpPr>
          <p:cNvPr id="5" name="Text 3"/>
          <p:cNvSpPr/>
          <p:nvPr/>
        </p:nvSpPr>
        <p:spPr>
          <a:xfrm>
            <a:off x="793790" y="2657832"/>
            <a:ext cx="13042821" cy="362903"/>
          </a:xfrm>
          <a:prstGeom prst="rect">
            <a:avLst/>
          </a:prstGeom>
          <a:noFill/>
          <a:ln/>
        </p:spPr>
        <p:txBody>
          <a:bodyPr wrap="none" rtlCol="0" anchor="t"/>
          <a:lstStyle/>
          <a:p>
            <a:pPr marL="0" indent="0" algn="ctr">
              <a:lnSpc>
                <a:spcPts val="2858"/>
              </a:lnSpc>
              <a:buNone/>
            </a:pPr>
            <a:endParaRPr lang="en-US" sz="1786" dirty="0"/>
          </a:p>
        </p:txBody>
      </p:sp>
      <p:sp>
        <p:nvSpPr>
          <p:cNvPr id="6" name="Text 4"/>
          <p:cNvSpPr/>
          <p:nvPr/>
        </p:nvSpPr>
        <p:spPr>
          <a:xfrm>
            <a:off x="1156692" y="3275886"/>
            <a:ext cx="12679918" cy="362903"/>
          </a:xfrm>
          <a:prstGeom prst="rect">
            <a:avLst/>
          </a:prstGeom>
          <a:noFill/>
          <a:ln/>
        </p:spPr>
        <p:txBody>
          <a:bodyPr wrap="none" rtlCol="0" anchor="t"/>
          <a:lstStyle/>
          <a:p>
            <a:pPr marL="342900" indent="-342900" algn="l">
              <a:lnSpc>
                <a:spcPts val="2858"/>
              </a:lnSpc>
              <a:buSzPct val="100000"/>
              <a:buFont typeface="+mj-lt"/>
              <a:buAutoNum type="arabicPeriod"/>
            </a:pPr>
            <a:r>
              <a:rPr lang="en-US" sz="1786" b="1" dirty="0">
                <a:solidFill>
                  <a:srgbClr val="161613"/>
                </a:solidFill>
                <a:latin typeface="Inter" pitchFamily="34" charset="0"/>
                <a:ea typeface="Inter" pitchFamily="34" charset="-122"/>
                <a:cs typeface="Inter" pitchFamily="34" charset="-120"/>
              </a:rPr>
              <a:t>Efficient Data Management</a:t>
            </a:r>
            <a:r>
              <a:rPr lang="en-US" sz="1786" dirty="0">
                <a:solidFill>
                  <a:srgbClr val="161613"/>
                </a:solidFill>
                <a:latin typeface="Inter" pitchFamily="34" charset="0"/>
                <a:ea typeface="Inter" pitchFamily="34" charset="-122"/>
                <a:cs typeface="Inter" pitchFamily="34" charset="-120"/>
              </a:rPr>
              <a:t>: Custom linked lists enhance performance for user-related operations.</a:t>
            </a:r>
            <a:endParaRPr lang="en-US" sz="1786" dirty="0"/>
          </a:p>
        </p:txBody>
      </p:sp>
      <p:sp>
        <p:nvSpPr>
          <p:cNvPr id="7" name="Text 5"/>
          <p:cNvSpPr/>
          <p:nvPr/>
        </p:nvSpPr>
        <p:spPr>
          <a:xfrm>
            <a:off x="1156692" y="3718084"/>
            <a:ext cx="12679918" cy="362903"/>
          </a:xfrm>
          <a:prstGeom prst="rect">
            <a:avLst/>
          </a:prstGeom>
          <a:noFill/>
          <a:ln/>
        </p:spPr>
        <p:txBody>
          <a:bodyPr wrap="none" rtlCol="0" anchor="t"/>
          <a:lstStyle/>
          <a:p>
            <a:pPr marL="342900" indent="-342900" algn="l">
              <a:lnSpc>
                <a:spcPts val="2858"/>
              </a:lnSpc>
              <a:buSzPct val="100000"/>
              <a:buFont typeface="+mj-lt"/>
              <a:buAutoNum type="arabicPeriod" startAt="2"/>
            </a:pPr>
            <a:r>
              <a:rPr lang="en-US" sz="1786" b="1" dirty="0">
                <a:solidFill>
                  <a:srgbClr val="161613"/>
                </a:solidFill>
                <a:latin typeface="Inter" pitchFamily="34" charset="0"/>
                <a:ea typeface="Inter" pitchFamily="34" charset="-122"/>
                <a:cs typeface="Inter" pitchFamily="34" charset="-120"/>
              </a:rPr>
              <a:t>Secure Authentication</a:t>
            </a:r>
            <a:r>
              <a:rPr lang="en-US" sz="1786" dirty="0">
                <a:solidFill>
                  <a:srgbClr val="161613"/>
                </a:solidFill>
                <a:latin typeface="Inter" pitchFamily="34" charset="0"/>
                <a:ea typeface="Inter" pitchFamily="34" charset="-122"/>
                <a:cs typeface="Inter" pitchFamily="34" charset="-120"/>
              </a:rPr>
              <a:t>: Parameterized queries prevent SQL injection.</a:t>
            </a:r>
            <a:endParaRPr lang="en-US" sz="1786" dirty="0"/>
          </a:p>
        </p:txBody>
      </p:sp>
      <p:sp>
        <p:nvSpPr>
          <p:cNvPr id="8" name="Text 6"/>
          <p:cNvSpPr/>
          <p:nvPr/>
        </p:nvSpPr>
        <p:spPr>
          <a:xfrm>
            <a:off x="1156692" y="4160282"/>
            <a:ext cx="12679918" cy="362903"/>
          </a:xfrm>
          <a:prstGeom prst="rect">
            <a:avLst/>
          </a:prstGeom>
          <a:noFill/>
          <a:ln/>
        </p:spPr>
        <p:txBody>
          <a:bodyPr wrap="none" rtlCol="0" anchor="t"/>
          <a:lstStyle/>
          <a:p>
            <a:pPr marL="342900" indent="-342900" algn="l">
              <a:lnSpc>
                <a:spcPts val="2858"/>
              </a:lnSpc>
              <a:buSzPct val="100000"/>
              <a:buFont typeface="+mj-lt"/>
              <a:buAutoNum type="arabicPeriod" startAt="3"/>
            </a:pPr>
            <a:r>
              <a:rPr lang="en-US" sz="1786" b="1" dirty="0">
                <a:solidFill>
                  <a:srgbClr val="161613"/>
                </a:solidFill>
                <a:latin typeface="Inter" pitchFamily="34" charset="0"/>
                <a:ea typeface="Inter" pitchFamily="34" charset="-122"/>
                <a:cs typeface="Inter" pitchFamily="34" charset="-120"/>
              </a:rPr>
              <a:t>Structured Database Interaction</a:t>
            </a:r>
            <a:r>
              <a:rPr lang="en-US" sz="1786" dirty="0">
                <a:solidFill>
                  <a:srgbClr val="161613"/>
                </a:solidFill>
                <a:latin typeface="Inter" pitchFamily="34" charset="0"/>
                <a:ea typeface="Inter" pitchFamily="34" charset="-122"/>
                <a:cs typeface="Inter" pitchFamily="34" charset="-120"/>
              </a:rPr>
              <a:t>: Stored procedures improve efficiency and reduce client-side processing.</a:t>
            </a:r>
            <a:endParaRPr lang="en-US" sz="1786" dirty="0"/>
          </a:p>
        </p:txBody>
      </p:sp>
      <p:sp>
        <p:nvSpPr>
          <p:cNvPr id="9" name="Text 7"/>
          <p:cNvSpPr/>
          <p:nvPr/>
        </p:nvSpPr>
        <p:spPr>
          <a:xfrm>
            <a:off x="1156692" y="4602480"/>
            <a:ext cx="12679918" cy="362903"/>
          </a:xfrm>
          <a:prstGeom prst="rect">
            <a:avLst/>
          </a:prstGeom>
          <a:noFill/>
          <a:ln/>
        </p:spPr>
        <p:txBody>
          <a:bodyPr wrap="none" rtlCol="0" anchor="t"/>
          <a:lstStyle/>
          <a:p>
            <a:pPr marL="342900" indent="-342900" algn="l">
              <a:lnSpc>
                <a:spcPts val="2858"/>
              </a:lnSpc>
              <a:buSzPct val="100000"/>
              <a:buFont typeface="+mj-lt"/>
              <a:buAutoNum type="arabicPeriod" startAt="4"/>
            </a:pPr>
            <a:r>
              <a:rPr lang="en-US" sz="1786" b="1" dirty="0">
                <a:solidFill>
                  <a:srgbClr val="161613"/>
                </a:solidFill>
                <a:latin typeface="Inter" pitchFamily="34" charset="0"/>
                <a:ea typeface="Inter" pitchFamily="34" charset="-122"/>
                <a:cs typeface="Inter" pitchFamily="34" charset="-120"/>
              </a:rPr>
              <a:t>Modularity</a:t>
            </a:r>
            <a:r>
              <a:rPr lang="en-US" sz="1786" dirty="0">
                <a:solidFill>
                  <a:srgbClr val="161613"/>
                </a:solidFill>
                <a:latin typeface="Inter" pitchFamily="34" charset="0"/>
                <a:ea typeface="Inter" pitchFamily="34" charset="-122"/>
                <a:cs typeface="Inter" pitchFamily="34" charset="-120"/>
              </a:rPr>
              <a:t>: Separate classes for different functionalities make the codebase easier to maintain and extend.</a:t>
            </a:r>
            <a:endParaRPr lang="en-US" sz="1786" dirty="0"/>
          </a:p>
        </p:txBody>
      </p:sp>
      <p:sp>
        <p:nvSpPr>
          <p:cNvPr id="10" name="Text 8"/>
          <p:cNvSpPr/>
          <p:nvPr/>
        </p:nvSpPr>
        <p:spPr>
          <a:xfrm>
            <a:off x="1156692" y="5044678"/>
            <a:ext cx="12679918" cy="362903"/>
          </a:xfrm>
          <a:prstGeom prst="rect">
            <a:avLst/>
          </a:prstGeom>
          <a:noFill/>
          <a:ln/>
        </p:spPr>
        <p:txBody>
          <a:bodyPr wrap="none" rtlCol="0" anchor="t"/>
          <a:lstStyle/>
          <a:p>
            <a:pPr marL="342900" indent="-342900" algn="l">
              <a:lnSpc>
                <a:spcPts val="2858"/>
              </a:lnSpc>
              <a:buSzPct val="100000"/>
              <a:buFont typeface="+mj-lt"/>
              <a:buAutoNum type="arabicPeriod" startAt="5"/>
            </a:pPr>
            <a:r>
              <a:rPr lang="en-US" sz="1786" b="1" dirty="0">
                <a:solidFill>
                  <a:srgbClr val="161613"/>
                </a:solidFill>
                <a:latin typeface="Inter" pitchFamily="34" charset="0"/>
                <a:ea typeface="Inter" pitchFamily="34" charset="-122"/>
                <a:cs typeface="Inter" pitchFamily="34" charset="-120"/>
              </a:rPr>
              <a:t>Real-Time Tracking</a:t>
            </a:r>
            <a:r>
              <a:rPr lang="en-US" sz="1786" dirty="0">
                <a:solidFill>
                  <a:srgbClr val="161613"/>
                </a:solidFill>
                <a:latin typeface="Inter" pitchFamily="34" charset="0"/>
                <a:ea typeface="Inter" pitchFamily="34" charset="-122"/>
                <a:cs typeface="Inter" pitchFamily="34" charset="-120"/>
              </a:rPr>
              <a:t>: Users receive real-time updates on their financial goals.</a:t>
            </a:r>
            <a:endParaRPr lang="en-US" sz="1786" dirty="0"/>
          </a:p>
        </p:txBody>
      </p:sp>
      <p:sp>
        <p:nvSpPr>
          <p:cNvPr id="11" name="Text 9"/>
          <p:cNvSpPr/>
          <p:nvPr/>
        </p:nvSpPr>
        <p:spPr>
          <a:xfrm>
            <a:off x="1156692" y="5486876"/>
            <a:ext cx="12679918" cy="362903"/>
          </a:xfrm>
          <a:prstGeom prst="rect">
            <a:avLst/>
          </a:prstGeom>
          <a:noFill/>
          <a:ln/>
        </p:spPr>
        <p:txBody>
          <a:bodyPr wrap="none" rtlCol="0" anchor="t"/>
          <a:lstStyle/>
          <a:p>
            <a:pPr marL="342900" indent="-342900" algn="l">
              <a:lnSpc>
                <a:spcPts val="2858"/>
              </a:lnSpc>
              <a:buSzPct val="100000"/>
              <a:buFont typeface="+mj-lt"/>
              <a:buAutoNum type="arabicPeriod" startAt="6"/>
            </a:pPr>
            <a:r>
              <a:rPr lang="en-US" sz="1786" b="1" dirty="0">
                <a:solidFill>
                  <a:srgbClr val="161613"/>
                </a:solidFill>
                <a:latin typeface="Inter" pitchFamily="34" charset="0"/>
                <a:ea typeface="Inter" pitchFamily="34" charset="-122"/>
                <a:cs typeface="Inter" pitchFamily="34" charset="-120"/>
              </a:rPr>
              <a:t>Scalability</a:t>
            </a:r>
            <a:r>
              <a:rPr lang="en-US" sz="1786" dirty="0">
                <a:solidFill>
                  <a:srgbClr val="161613"/>
                </a:solidFill>
                <a:latin typeface="Inter" pitchFamily="34" charset="0"/>
                <a:ea typeface="Inter" pitchFamily="34" charset="-122"/>
                <a:cs typeface="Inter" pitchFamily="34" charset="-120"/>
              </a:rPr>
              <a:t>: The design supports easy expansion with additional features.</a:t>
            </a:r>
            <a:endParaRPr lang="en-US" sz="1786" dirty="0"/>
          </a:p>
        </p:txBody>
      </p:sp>
      <p:sp>
        <p:nvSpPr>
          <p:cNvPr id="12" name="Text 10"/>
          <p:cNvSpPr/>
          <p:nvPr/>
        </p:nvSpPr>
        <p:spPr>
          <a:xfrm>
            <a:off x="1156692" y="5929074"/>
            <a:ext cx="12679918" cy="362903"/>
          </a:xfrm>
          <a:prstGeom prst="rect">
            <a:avLst/>
          </a:prstGeom>
          <a:noFill/>
          <a:ln/>
        </p:spPr>
        <p:txBody>
          <a:bodyPr wrap="none" rtlCol="0" anchor="t"/>
          <a:lstStyle/>
          <a:p>
            <a:pPr marL="342900" indent="-342900" algn="l">
              <a:lnSpc>
                <a:spcPts val="2858"/>
              </a:lnSpc>
              <a:buSzPct val="100000"/>
              <a:buFont typeface="+mj-lt"/>
              <a:buAutoNum type="arabicPeriod" startAt="7"/>
            </a:pPr>
            <a:r>
              <a:rPr lang="en-US" sz="1786" b="1" dirty="0">
                <a:solidFill>
                  <a:srgbClr val="161613"/>
                </a:solidFill>
                <a:latin typeface="Inter" pitchFamily="34" charset="0"/>
                <a:ea typeface="Inter" pitchFamily="34" charset="-122"/>
                <a:cs typeface="Inter" pitchFamily="34" charset="-120"/>
              </a:rPr>
              <a:t>Enhanced User Experience</a:t>
            </a:r>
            <a:r>
              <a:rPr lang="en-US" sz="1786" dirty="0">
                <a:solidFill>
                  <a:srgbClr val="161613"/>
                </a:solidFill>
                <a:latin typeface="Inter" pitchFamily="34" charset="0"/>
                <a:ea typeface="Inter" pitchFamily="34" charset="-122"/>
                <a:cs typeface="Inter" pitchFamily="34" charset="-120"/>
              </a:rPr>
              <a:t>: Features like goal setting and forgot password improve usability.</a:t>
            </a:r>
            <a:endParaRPr lang="en-US" sz="1786" dirty="0"/>
          </a:p>
        </p:txBody>
      </p:sp>
      <p:sp>
        <p:nvSpPr>
          <p:cNvPr id="13" name="Text 11"/>
          <p:cNvSpPr/>
          <p:nvPr/>
        </p:nvSpPr>
        <p:spPr>
          <a:xfrm>
            <a:off x="1156692" y="6371273"/>
            <a:ext cx="12679918" cy="362903"/>
          </a:xfrm>
          <a:prstGeom prst="rect">
            <a:avLst/>
          </a:prstGeom>
          <a:noFill/>
          <a:ln/>
        </p:spPr>
        <p:txBody>
          <a:bodyPr wrap="none" rtlCol="0" anchor="t"/>
          <a:lstStyle/>
          <a:p>
            <a:pPr marL="342900" indent="-342900" algn="l">
              <a:lnSpc>
                <a:spcPts val="2858"/>
              </a:lnSpc>
              <a:buSzPct val="100000"/>
              <a:buFont typeface="+mj-lt"/>
              <a:buAutoNum type="arabicPeriod" startAt="8"/>
            </a:pPr>
            <a:r>
              <a:rPr lang="en-US" sz="1786" b="1" dirty="0">
                <a:solidFill>
                  <a:srgbClr val="161613"/>
                </a:solidFill>
                <a:latin typeface="Inter" pitchFamily="34" charset="0"/>
                <a:ea typeface="Inter" pitchFamily="34" charset="-122"/>
                <a:cs typeface="Inter" pitchFamily="34" charset="-120"/>
              </a:rPr>
              <a:t>Reusability</a:t>
            </a:r>
            <a:r>
              <a:rPr lang="en-US" sz="1786" dirty="0">
                <a:solidFill>
                  <a:srgbClr val="161613"/>
                </a:solidFill>
                <a:latin typeface="Inter" pitchFamily="34" charset="0"/>
                <a:ea typeface="Inter" pitchFamily="34" charset="-122"/>
                <a:cs typeface="Inter" pitchFamily="34" charset="-120"/>
              </a:rPr>
              <a:t>: Custom data structures and components can be reused in future projects.</a:t>
            </a:r>
            <a:endParaRPr lang="en-US" sz="1786" dirty="0"/>
          </a:p>
        </p:txBody>
      </p:sp>
      <p:pic>
        <p:nvPicPr>
          <p:cNvPr id="14" name="Picture 13">
            <a:extLst>
              <a:ext uri="{FF2B5EF4-FFF2-40B4-BE49-F238E27FC236}">
                <a16:creationId xmlns:a16="http://schemas.microsoft.com/office/drawing/2014/main" id="{90A764C7-EBC3-1B9E-B015-F35E8617A7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15" name="Picture 14">
            <a:extLst>
              <a:ext uri="{FF2B5EF4-FFF2-40B4-BE49-F238E27FC236}">
                <a16:creationId xmlns:a16="http://schemas.microsoft.com/office/drawing/2014/main" id="{B0C1292A-31D7-C15B-D320-96C64399301B}"/>
              </a:ext>
            </a:extLst>
          </p:cNvPr>
          <p:cNvPicPr>
            <a:picLocks noChangeAspect="1"/>
          </p:cNvPicPr>
          <p:nvPr/>
        </p:nvPicPr>
        <p:blipFill rotWithShape="1">
          <a:blip r:embed="rId4">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
        <p:nvSpPr>
          <p:cNvPr id="4" name="Text 2"/>
          <p:cNvSpPr/>
          <p:nvPr/>
        </p:nvSpPr>
        <p:spPr>
          <a:xfrm>
            <a:off x="4479846" y="1157883"/>
            <a:ext cx="5670590" cy="708779"/>
          </a:xfrm>
          <a:prstGeom prst="rect">
            <a:avLst/>
          </a:prstGeom>
          <a:noFill/>
          <a:ln/>
        </p:spPr>
        <p:txBody>
          <a:bodyPr wrap="none" rtlCol="0" anchor="t"/>
          <a:lstStyle/>
          <a:p>
            <a:pPr marL="0" indent="0" algn="ctr">
              <a:lnSpc>
                <a:spcPts val="5581"/>
              </a:lnSpc>
              <a:buNone/>
            </a:pPr>
            <a:r>
              <a:rPr lang="en-US" sz="4465" dirty="0">
                <a:solidFill>
                  <a:srgbClr val="161613"/>
                </a:solidFill>
                <a:latin typeface="DM Sans" pitchFamily="34" charset="0"/>
                <a:ea typeface="DM Sans" pitchFamily="34" charset="-122"/>
                <a:cs typeface="DM Sans" pitchFamily="34" charset="-120"/>
              </a:rPr>
              <a:t>Disadvantages</a:t>
            </a:r>
            <a:endParaRPr lang="en-US" sz="4465" dirty="0"/>
          </a:p>
        </p:txBody>
      </p:sp>
      <p:sp>
        <p:nvSpPr>
          <p:cNvPr id="5" name="Text 3"/>
          <p:cNvSpPr/>
          <p:nvPr/>
        </p:nvSpPr>
        <p:spPr>
          <a:xfrm>
            <a:off x="1156692" y="2320290"/>
            <a:ext cx="12679918" cy="725805"/>
          </a:xfrm>
          <a:prstGeom prst="rect">
            <a:avLst/>
          </a:prstGeom>
          <a:noFill/>
          <a:ln/>
        </p:spPr>
        <p:txBody>
          <a:bodyPr wrap="square" rtlCol="0" anchor="t"/>
          <a:lstStyle/>
          <a:p>
            <a:pPr marL="342900" indent="-342900" algn="l">
              <a:lnSpc>
                <a:spcPts val="2858"/>
              </a:lnSpc>
              <a:buSzPct val="100000"/>
              <a:buFont typeface="+mj-lt"/>
              <a:buAutoNum type="arabicPeriod"/>
            </a:pPr>
            <a:r>
              <a:rPr lang="en-US" sz="1786" b="1" dirty="0">
                <a:solidFill>
                  <a:srgbClr val="161613"/>
                </a:solidFill>
                <a:latin typeface="Inter" pitchFamily="34" charset="0"/>
                <a:ea typeface="Inter" pitchFamily="34" charset="-122"/>
                <a:cs typeface="Inter" pitchFamily="34" charset="-120"/>
              </a:rPr>
              <a:t>Complexity</a:t>
            </a:r>
            <a:r>
              <a:rPr lang="en-US" sz="1786" dirty="0">
                <a:solidFill>
                  <a:srgbClr val="161613"/>
                </a:solidFill>
                <a:latin typeface="Inter" pitchFamily="34" charset="0"/>
                <a:ea typeface="Inter" pitchFamily="34" charset="-122"/>
                <a:cs typeface="Inter" pitchFamily="34" charset="-120"/>
              </a:rPr>
              <a:t>: Custom data structures like linked lists can be more complex to implement and maintain compared to using built-in Java collections.</a:t>
            </a:r>
            <a:endParaRPr lang="en-US" sz="1786" dirty="0"/>
          </a:p>
        </p:txBody>
      </p:sp>
      <p:sp>
        <p:nvSpPr>
          <p:cNvPr id="6" name="Text 4"/>
          <p:cNvSpPr/>
          <p:nvPr/>
        </p:nvSpPr>
        <p:spPr>
          <a:xfrm>
            <a:off x="1156692" y="3125391"/>
            <a:ext cx="12679918" cy="725805"/>
          </a:xfrm>
          <a:prstGeom prst="rect">
            <a:avLst/>
          </a:prstGeom>
          <a:noFill/>
          <a:ln/>
        </p:spPr>
        <p:txBody>
          <a:bodyPr wrap="square" rtlCol="0" anchor="t"/>
          <a:lstStyle/>
          <a:p>
            <a:pPr marL="342900" indent="-342900" algn="l">
              <a:lnSpc>
                <a:spcPts val="2858"/>
              </a:lnSpc>
              <a:buSzPct val="100000"/>
              <a:buFont typeface="+mj-lt"/>
              <a:buAutoNum type="arabicPeriod" startAt="2"/>
            </a:pPr>
            <a:r>
              <a:rPr lang="en-US" sz="1786" b="1" dirty="0">
                <a:solidFill>
                  <a:srgbClr val="161613"/>
                </a:solidFill>
                <a:latin typeface="Inter" pitchFamily="34" charset="0"/>
                <a:ea typeface="Inter" pitchFamily="34" charset="-122"/>
                <a:cs typeface="Inter" pitchFamily="34" charset="-120"/>
              </a:rPr>
              <a:t>Database Dependency</a:t>
            </a:r>
            <a:r>
              <a:rPr lang="en-US" sz="1786" dirty="0">
                <a:solidFill>
                  <a:srgbClr val="161613"/>
                </a:solidFill>
                <a:latin typeface="Inter" pitchFamily="34" charset="0"/>
                <a:ea typeface="Inter" pitchFamily="34" charset="-122"/>
                <a:cs typeface="Inter" pitchFamily="34" charset="-120"/>
              </a:rPr>
              <a:t>: Heavy reliance on the database means the system is vulnerable to issues like connection failures or SQL errors.</a:t>
            </a:r>
            <a:endParaRPr lang="en-US" sz="1786" dirty="0"/>
          </a:p>
        </p:txBody>
      </p:sp>
      <p:sp>
        <p:nvSpPr>
          <p:cNvPr id="7" name="Text 5"/>
          <p:cNvSpPr/>
          <p:nvPr/>
        </p:nvSpPr>
        <p:spPr>
          <a:xfrm>
            <a:off x="1156692" y="3930491"/>
            <a:ext cx="12679918" cy="725805"/>
          </a:xfrm>
          <a:prstGeom prst="rect">
            <a:avLst/>
          </a:prstGeom>
          <a:noFill/>
          <a:ln/>
        </p:spPr>
        <p:txBody>
          <a:bodyPr wrap="square" rtlCol="0" anchor="t"/>
          <a:lstStyle/>
          <a:p>
            <a:pPr marL="342900" indent="-342900" algn="l">
              <a:lnSpc>
                <a:spcPts val="2858"/>
              </a:lnSpc>
              <a:buSzPct val="100000"/>
              <a:buFont typeface="+mj-lt"/>
              <a:buAutoNum type="arabicPeriod" startAt="3"/>
            </a:pPr>
            <a:r>
              <a:rPr lang="en-US" sz="1786" b="1" dirty="0">
                <a:solidFill>
                  <a:srgbClr val="161613"/>
                </a:solidFill>
                <a:latin typeface="Inter" pitchFamily="34" charset="0"/>
                <a:ea typeface="Inter" pitchFamily="34" charset="-122"/>
                <a:cs typeface="Inter" pitchFamily="34" charset="-120"/>
              </a:rPr>
              <a:t>Scalability Challenges</a:t>
            </a:r>
            <a:r>
              <a:rPr lang="en-US" sz="1786" dirty="0">
                <a:solidFill>
                  <a:srgbClr val="161613"/>
                </a:solidFill>
                <a:latin typeface="Inter" pitchFamily="34" charset="0"/>
                <a:ea typeface="Inter" pitchFamily="34" charset="-122"/>
                <a:cs typeface="Inter" pitchFamily="34" charset="-120"/>
              </a:rPr>
              <a:t>: While the design supports scalability, the use of custom structures could limit performance with large datasets compared to optimized built-in alternatives.</a:t>
            </a:r>
            <a:endParaRPr lang="en-US" sz="1786" dirty="0"/>
          </a:p>
        </p:txBody>
      </p:sp>
      <p:sp>
        <p:nvSpPr>
          <p:cNvPr id="8" name="Text 6"/>
          <p:cNvSpPr/>
          <p:nvPr/>
        </p:nvSpPr>
        <p:spPr>
          <a:xfrm>
            <a:off x="1156692" y="4735592"/>
            <a:ext cx="12679918" cy="725805"/>
          </a:xfrm>
          <a:prstGeom prst="rect">
            <a:avLst/>
          </a:prstGeom>
          <a:noFill/>
          <a:ln/>
        </p:spPr>
        <p:txBody>
          <a:bodyPr wrap="square" rtlCol="0" anchor="t"/>
          <a:lstStyle/>
          <a:p>
            <a:pPr marL="342900" indent="-342900" algn="l">
              <a:lnSpc>
                <a:spcPts val="2858"/>
              </a:lnSpc>
              <a:buSzPct val="100000"/>
              <a:buFont typeface="+mj-lt"/>
              <a:buAutoNum type="arabicPeriod" startAt="4"/>
            </a:pPr>
            <a:r>
              <a:rPr lang="en-US" sz="1786" b="1" dirty="0">
                <a:solidFill>
                  <a:srgbClr val="161613"/>
                </a:solidFill>
                <a:latin typeface="Inter" pitchFamily="34" charset="0"/>
                <a:ea typeface="Inter" pitchFamily="34" charset="-122"/>
                <a:cs typeface="Inter" pitchFamily="34" charset="-120"/>
              </a:rPr>
              <a:t>Maintenance Overhead</a:t>
            </a:r>
            <a:r>
              <a:rPr lang="en-US" sz="1786" dirty="0">
                <a:solidFill>
                  <a:srgbClr val="161613"/>
                </a:solidFill>
                <a:latin typeface="Inter" pitchFamily="34" charset="0"/>
                <a:ea typeface="Inter" pitchFamily="34" charset="-122"/>
                <a:cs typeface="Inter" pitchFamily="34" charset="-120"/>
              </a:rPr>
              <a:t>: Managing custom code for linked lists and other structures may increase maintenance time and effort.</a:t>
            </a:r>
            <a:endParaRPr lang="en-US" sz="1786" dirty="0"/>
          </a:p>
        </p:txBody>
      </p:sp>
      <p:sp>
        <p:nvSpPr>
          <p:cNvPr id="9" name="Text 7"/>
          <p:cNvSpPr/>
          <p:nvPr/>
        </p:nvSpPr>
        <p:spPr>
          <a:xfrm>
            <a:off x="1156692" y="5540693"/>
            <a:ext cx="12679918" cy="725805"/>
          </a:xfrm>
          <a:prstGeom prst="rect">
            <a:avLst/>
          </a:prstGeom>
          <a:noFill/>
          <a:ln/>
        </p:spPr>
        <p:txBody>
          <a:bodyPr wrap="square" rtlCol="0" anchor="t"/>
          <a:lstStyle/>
          <a:p>
            <a:pPr marL="342900" indent="-342900" algn="l">
              <a:lnSpc>
                <a:spcPts val="2858"/>
              </a:lnSpc>
              <a:buSzPct val="100000"/>
              <a:buFont typeface="+mj-lt"/>
              <a:buAutoNum type="arabicPeriod" startAt="5"/>
            </a:pPr>
            <a:r>
              <a:rPr lang="en-US" sz="1786" b="1" dirty="0">
                <a:solidFill>
                  <a:srgbClr val="161613"/>
                </a:solidFill>
                <a:latin typeface="Inter" pitchFamily="34" charset="0"/>
                <a:ea typeface="Inter" pitchFamily="34" charset="-122"/>
                <a:cs typeface="Inter" pitchFamily="34" charset="-120"/>
              </a:rPr>
              <a:t>Limited Error Handling</a:t>
            </a:r>
            <a:r>
              <a:rPr lang="en-US" sz="1786" dirty="0">
                <a:solidFill>
                  <a:srgbClr val="161613"/>
                </a:solidFill>
                <a:latin typeface="Inter" pitchFamily="34" charset="0"/>
                <a:ea typeface="Inter" pitchFamily="34" charset="-122"/>
                <a:cs typeface="Inter" pitchFamily="34" charset="-120"/>
              </a:rPr>
              <a:t>: The project might require more robust error handling, especially in database interactions, to ensure stability.</a:t>
            </a:r>
            <a:endParaRPr lang="en-US" sz="1786" dirty="0"/>
          </a:p>
        </p:txBody>
      </p:sp>
      <p:sp>
        <p:nvSpPr>
          <p:cNvPr id="10" name="Text 8"/>
          <p:cNvSpPr/>
          <p:nvPr/>
        </p:nvSpPr>
        <p:spPr>
          <a:xfrm>
            <a:off x="1156692" y="6345793"/>
            <a:ext cx="12679918" cy="725805"/>
          </a:xfrm>
          <a:prstGeom prst="rect">
            <a:avLst/>
          </a:prstGeom>
          <a:noFill/>
          <a:ln/>
        </p:spPr>
        <p:txBody>
          <a:bodyPr wrap="square" rtlCol="0" anchor="t"/>
          <a:lstStyle/>
          <a:p>
            <a:pPr marL="342900" indent="-342900" algn="l">
              <a:lnSpc>
                <a:spcPts val="2858"/>
              </a:lnSpc>
              <a:buSzPct val="100000"/>
              <a:buFont typeface="+mj-lt"/>
              <a:buAutoNum type="arabicPeriod" startAt="6"/>
            </a:pPr>
            <a:r>
              <a:rPr lang="en-US" sz="1786" b="1" dirty="0">
                <a:solidFill>
                  <a:srgbClr val="161613"/>
                </a:solidFill>
                <a:latin typeface="Inter" pitchFamily="34" charset="0"/>
                <a:ea typeface="Inter" pitchFamily="34" charset="-122"/>
                <a:cs typeface="Inter" pitchFamily="34" charset="-120"/>
              </a:rPr>
              <a:t>Learning Curve</a:t>
            </a:r>
            <a:r>
              <a:rPr lang="en-US" sz="1786" dirty="0">
                <a:solidFill>
                  <a:srgbClr val="161613"/>
                </a:solidFill>
                <a:latin typeface="Inter" pitchFamily="34" charset="0"/>
                <a:ea typeface="Inter" pitchFamily="34" charset="-122"/>
                <a:cs typeface="Inter" pitchFamily="34" charset="-120"/>
              </a:rPr>
              <a:t>: Developers need a solid understanding of both DBMS concepts and custom data structures, which might be challenging for less experienced programmers.</a:t>
            </a:r>
            <a:endParaRPr lang="en-US" sz="1786" dirty="0"/>
          </a:p>
        </p:txBody>
      </p:sp>
      <p:pic>
        <p:nvPicPr>
          <p:cNvPr id="11" name="Picture 10">
            <a:extLst>
              <a:ext uri="{FF2B5EF4-FFF2-40B4-BE49-F238E27FC236}">
                <a16:creationId xmlns:a16="http://schemas.microsoft.com/office/drawing/2014/main" id="{796B04DC-6A76-F672-7512-EFFAF1C370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0" y="16365"/>
            <a:ext cx="741512" cy="776377"/>
          </a:xfrm>
          <a:prstGeom prst="rect">
            <a:avLst/>
          </a:prstGeom>
        </p:spPr>
      </p:pic>
      <p:pic>
        <p:nvPicPr>
          <p:cNvPr id="12" name="Picture 11">
            <a:extLst>
              <a:ext uri="{FF2B5EF4-FFF2-40B4-BE49-F238E27FC236}">
                <a16:creationId xmlns:a16="http://schemas.microsoft.com/office/drawing/2014/main" id="{EF84F823-B05B-ADA0-6CA9-39EC2859B9F3}"/>
              </a:ext>
            </a:extLst>
          </p:cNvPr>
          <p:cNvPicPr>
            <a:picLocks noChangeAspect="1"/>
          </p:cNvPicPr>
          <p:nvPr/>
        </p:nvPicPr>
        <p:blipFill rotWithShape="1">
          <a:blip r:embed="rId4">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p:cNvPicPr>
            <a:picLocks noChangeAspect="1"/>
          </p:cNvPicPr>
          <p:nvPr/>
        </p:nvPicPr>
        <p:blipFill>
          <a:blip r:embed="rId3"/>
          <a:stretch>
            <a:fillRect/>
          </a:stretch>
        </p:blipFill>
        <p:spPr>
          <a:xfrm>
            <a:off x="9423559" y="1651159"/>
            <a:ext cx="4927282" cy="4927283"/>
          </a:xfrm>
          <a:prstGeom prst="rect">
            <a:avLst/>
          </a:prstGeom>
        </p:spPr>
      </p:pic>
      <p:sp>
        <p:nvSpPr>
          <p:cNvPr id="5" name="Text 2"/>
          <p:cNvSpPr/>
          <p:nvPr/>
        </p:nvSpPr>
        <p:spPr>
          <a:xfrm>
            <a:off x="782955" y="616744"/>
            <a:ext cx="5592961" cy="699135"/>
          </a:xfrm>
          <a:prstGeom prst="rect">
            <a:avLst/>
          </a:prstGeom>
          <a:noFill/>
          <a:ln/>
        </p:spPr>
        <p:txBody>
          <a:bodyPr wrap="none" rtlCol="0" anchor="t"/>
          <a:lstStyle/>
          <a:p>
            <a:pPr marL="0" indent="0">
              <a:lnSpc>
                <a:spcPts val="5505"/>
              </a:lnSpc>
              <a:buNone/>
            </a:pPr>
            <a:r>
              <a:rPr lang="en-US" sz="4404" dirty="0">
                <a:solidFill>
                  <a:srgbClr val="161613"/>
                </a:solidFill>
                <a:latin typeface="DM Sans" pitchFamily="34" charset="0"/>
                <a:ea typeface="DM Sans" pitchFamily="34" charset="-122"/>
                <a:cs typeface="DM Sans" pitchFamily="34" charset="-120"/>
              </a:rPr>
              <a:t>Tools Used in Project</a:t>
            </a:r>
            <a:endParaRPr lang="en-US" sz="4404" dirty="0"/>
          </a:p>
        </p:txBody>
      </p:sp>
      <p:sp>
        <p:nvSpPr>
          <p:cNvPr id="6" name="Text 3"/>
          <p:cNvSpPr/>
          <p:nvPr/>
        </p:nvSpPr>
        <p:spPr>
          <a:xfrm>
            <a:off x="782955" y="1651397"/>
            <a:ext cx="7578090" cy="357902"/>
          </a:xfrm>
          <a:prstGeom prst="rect">
            <a:avLst/>
          </a:prstGeom>
          <a:noFill/>
          <a:ln/>
        </p:spPr>
        <p:txBody>
          <a:bodyPr wrap="none" rtlCol="0" anchor="t"/>
          <a:lstStyle/>
          <a:p>
            <a:pPr marL="0" indent="0">
              <a:lnSpc>
                <a:spcPts val="2819"/>
              </a:lnSpc>
              <a:buNone/>
            </a:pPr>
            <a:endParaRPr lang="en-US" sz="1762" dirty="0"/>
          </a:p>
        </p:txBody>
      </p:sp>
      <p:pic>
        <p:nvPicPr>
          <p:cNvPr id="7" name="Image 1" descr="preencoded.png"/>
          <p:cNvPicPr>
            <a:picLocks noChangeAspect="1"/>
          </p:cNvPicPr>
          <p:nvPr/>
        </p:nvPicPr>
        <p:blipFill>
          <a:blip r:embed="rId4"/>
          <a:stretch>
            <a:fillRect/>
          </a:stretch>
        </p:blipFill>
        <p:spPr>
          <a:xfrm>
            <a:off x="782955" y="2260878"/>
            <a:ext cx="559237" cy="559237"/>
          </a:xfrm>
          <a:prstGeom prst="rect">
            <a:avLst/>
          </a:prstGeom>
        </p:spPr>
      </p:pic>
      <p:sp>
        <p:nvSpPr>
          <p:cNvPr id="8" name="Text 4"/>
          <p:cNvSpPr/>
          <p:nvPr/>
        </p:nvSpPr>
        <p:spPr>
          <a:xfrm>
            <a:off x="782955" y="3043833"/>
            <a:ext cx="2796421" cy="349568"/>
          </a:xfrm>
          <a:prstGeom prst="rect">
            <a:avLst/>
          </a:prstGeom>
          <a:noFill/>
          <a:ln/>
        </p:spPr>
        <p:txBody>
          <a:bodyPr wrap="none" rtlCol="0" anchor="t"/>
          <a:lstStyle/>
          <a:p>
            <a:pPr marL="0" indent="0" algn="l">
              <a:lnSpc>
                <a:spcPts val="2752"/>
              </a:lnSpc>
              <a:buNone/>
            </a:pPr>
            <a:r>
              <a:rPr lang="en-US" sz="2202" dirty="0">
                <a:solidFill>
                  <a:srgbClr val="161613"/>
                </a:solidFill>
                <a:latin typeface="DM Sans" pitchFamily="34" charset="0"/>
                <a:ea typeface="DM Sans" pitchFamily="34" charset="-122"/>
                <a:cs typeface="DM Sans" pitchFamily="34" charset="-120"/>
              </a:rPr>
              <a:t>Java</a:t>
            </a:r>
            <a:endParaRPr lang="en-US" sz="2202" dirty="0"/>
          </a:p>
        </p:txBody>
      </p:sp>
      <p:sp>
        <p:nvSpPr>
          <p:cNvPr id="9" name="Text 5"/>
          <p:cNvSpPr/>
          <p:nvPr/>
        </p:nvSpPr>
        <p:spPr>
          <a:xfrm>
            <a:off x="782955" y="3527584"/>
            <a:ext cx="3621286" cy="1073706"/>
          </a:xfrm>
          <a:prstGeom prst="rect">
            <a:avLst/>
          </a:prstGeom>
          <a:noFill/>
          <a:ln/>
        </p:spPr>
        <p:txBody>
          <a:bodyPr wrap="square" rtlCol="0" anchor="t"/>
          <a:lstStyle/>
          <a:p>
            <a:pPr marL="0" indent="0" algn="l">
              <a:lnSpc>
                <a:spcPts val="2819"/>
              </a:lnSpc>
              <a:buNone/>
            </a:pPr>
            <a:r>
              <a:rPr lang="en-US" sz="1762" dirty="0">
                <a:solidFill>
                  <a:srgbClr val="161613"/>
                </a:solidFill>
                <a:latin typeface="Inter" pitchFamily="34" charset="0"/>
                <a:ea typeface="Inter" pitchFamily="34" charset="-122"/>
                <a:cs typeface="Inter" pitchFamily="34" charset="-120"/>
              </a:rPr>
              <a:t>Used for developing the backend server logic and handling data processing.</a:t>
            </a:r>
            <a:endParaRPr lang="en-US" sz="1762" dirty="0"/>
          </a:p>
        </p:txBody>
      </p:sp>
      <p:pic>
        <p:nvPicPr>
          <p:cNvPr id="10" name="Image 2" descr="preencoded.png"/>
          <p:cNvPicPr>
            <a:picLocks noChangeAspect="1"/>
          </p:cNvPicPr>
          <p:nvPr/>
        </p:nvPicPr>
        <p:blipFill>
          <a:blip r:embed="rId5"/>
          <a:stretch>
            <a:fillRect/>
          </a:stretch>
        </p:blipFill>
        <p:spPr>
          <a:xfrm>
            <a:off x="4739759" y="2260878"/>
            <a:ext cx="559237" cy="559237"/>
          </a:xfrm>
          <a:prstGeom prst="rect">
            <a:avLst/>
          </a:prstGeom>
        </p:spPr>
      </p:pic>
      <p:sp>
        <p:nvSpPr>
          <p:cNvPr id="11" name="Text 6"/>
          <p:cNvSpPr/>
          <p:nvPr/>
        </p:nvSpPr>
        <p:spPr>
          <a:xfrm>
            <a:off x="4739759" y="3043833"/>
            <a:ext cx="2796421" cy="349568"/>
          </a:xfrm>
          <a:prstGeom prst="rect">
            <a:avLst/>
          </a:prstGeom>
          <a:noFill/>
          <a:ln/>
        </p:spPr>
        <p:txBody>
          <a:bodyPr wrap="none" rtlCol="0" anchor="t"/>
          <a:lstStyle/>
          <a:p>
            <a:pPr marL="0" indent="0" algn="l">
              <a:lnSpc>
                <a:spcPts val="2752"/>
              </a:lnSpc>
              <a:buNone/>
            </a:pPr>
            <a:r>
              <a:rPr lang="en-US" sz="2202" dirty="0">
                <a:solidFill>
                  <a:srgbClr val="161613"/>
                </a:solidFill>
                <a:latin typeface="DM Sans" pitchFamily="34" charset="0"/>
                <a:ea typeface="DM Sans" pitchFamily="34" charset="-122"/>
                <a:cs typeface="DM Sans" pitchFamily="34" charset="-120"/>
              </a:rPr>
              <a:t>VS Code</a:t>
            </a:r>
            <a:endParaRPr lang="en-US" sz="2202" dirty="0"/>
          </a:p>
        </p:txBody>
      </p:sp>
      <p:sp>
        <p:nvSpPr>
          <p:cNvPr id="12" name="Text 7"/>
          <p:cNvSpPr/>
          <p:nvPr/>
        </p:nvSpPr>
        <p:spPr>
          <a:xfrm>
            <a:off x="4739759" y="3527584"/>
            <a:ext cx="3621286" cy="715804"/>
          </a:xfrm>
          <a:prstGeom prst="rect">
            <a:avLst/>
          </a:prstGeom>
          <a:noFill/>
          <a:ln/>
        </p:spPr>
        <p:txBody>
          <a:bodyPr wrap="square" rtlCol="0" anchor="t"/>
          <a:lstStyle/>
          <a:p>
            <a:pPr marL="0" indent="0" algn="l">
              <a:lnSpc>
                <a:spcPts val="2819"/>
              </a:lnSpc>
              <a:buNone/>
            </a:pPr>
            <a:r>
              <a:rPr lang="en-US" sz="1762" dirty="0">
                <a:solidFill>
                  <a:srgbClr val="161613"/>
                </a:solidFill>
                <a:latin typeface="Inter" pitchFamily="34" charset="0"/>
                <a:ea typeface="Inter" pitchFamily="34" charset="-122"/>
                <a:cs typeface="Inter" pitchFamily="34" charset="-120"/>
              </a:rPr>
              <a:t>Used for coding. And output Showing.</a:t>
            </a:r>
            <a:endParaRPr lang="en-US" sz="1762" dirty="0"/>
          </a:p>
        </p:txBody>
      </p:sp>
      <p:pic>
        <p:nvPicPr>
          <p:cNvPr id="13" name="Image 3" descr="preencoded.png"/>
          <p:cNvPicPr>
            <a:picLocks noChangeAspect="1"/>
          </p:cNvPicPr>
          <p:nvPr/>
        </p:nvPicPr>
        <p:blipFill>
          <a:blip r:embed="rId6"/>
          <a:stretch>
            <a:fillRect/>
          </a:stretch>
        </p:blipFill>
        <p:spPr>
          <a:xfrm>
            <a:off x="782955" y="5272445"/>
            <a:ext cx="559237" cy="559237"/>
          </a:xfrm>
          <a:prstGeom prst="rect">
            <a:avLst/>
          </a:prstGeom>
        </p:spPr>
      </p:pic>
      <p:sp>
        <p:nvSpPr>
          <p:cNvPr id="14" name="Text 8"/>
          <p:cNvSpPr/>
          <p:nvPr/>
        </p:nvSpPr>
        <p:spPr>
          <a:xfrm>
            <a:off x="782955" y="6055400"/>
            <a:ext cx="2796421" cy="349568"/>
          </a:xfrm>
          <a:prstGeom prst="rect">
            <a:avLst/>
          </a:prstGeom>
          <a:noFill/>
          <a:ln/>
        </p:spPr>
        <p:txBody>
          <a:bodyPr wrap="none" rtlCol="0" anchor="t"/>
          <a:lstStyle/>
          <a:p>
            <a:pPr marL="0" indent="0" algn="l">
              <a:lnSpc>
                <a:spcPts val="2752"/>
              </a:lnSpc>
              <a:buNone/>
            </a:pPr>
            <a:r>
              <a:rPr lang="en-US" sz="2202" dirty="0">
                <a:solidFill>
                  <a:srgbClr val="161613"/>
                </a:solidFill>
                <a:latin typeface="DM Sans" pitchFamily="34" charset="0"/>
                <a:ea typeface="DM Sans" pitchFamily="34" charset="-122"/>
                <a:cs typeface="DM Sans" pitchFamily="34" charset="-120"/>
              </a:rPr>
              <a:t>Xampp</a:t>
            </a:r>
            <a:endParaRPr lang="en-US" sz="2202" dirty="0"/>
          </a:p>
        </p:txBody>
      </p:sp>
      <p:sp>
        <p:nvSpPr>
          <p:cNvPr id="15" name="Text 9"/>
          <p:cNvSpPr/>
          <p:nvPr/>
        </p:nvSpPr>
        <p:spPr>
          <a:xfrm>
            <a:off x="782955" y="6539151"/>
            <a:ext cx="3621286" cy="357902"/>
          </a:xfrm>
          <a:prstGeom prst="rect">
            <a:avLst/>
          </a:prstGeom>
          <a:noFill/>
          <a:ln/>
        </p:spPr>
        <p:txBody>
          <a:bodyPr wrap="none" rtlCol="0" anchor="t"/>
          <a:lstStyle/>
          <a:p>
            <a:pPr marL="0" indent="0" algn="l">
              <a:lnSpc>
                <a:spcPts val="2819"/>
              </a:lnSpc>
              <a:buNone/>
            </a:pPr>
            <a:r>
              <a:rPr lang="en-US" sz="1762" dirty="0">
                <a:solidFill>
                  <a:srgbClr val="161613"/>
                </a:solidFill>
                <a:latin typeface="Inter" pitchFamily="34" charset="0"/>
                <a:ea typeface="Inter" pitchFamily="34" charset="-122"/>
                <a:cs typeface="Inter" pitchFamily="34" charset="-120"/>
              </a:rPr>
              <a:t>Used for make database.</a:t>
            </a:r>
            <a:endParaRPr lang="en-US" sz="1762" dirty="0"/>
          </a:p>
        </p:txBody>
      </p:sp>
      <p:pic>
        <p:nvPicPr>
          <p:cNvPr id="16" name="Image 4" descr="preencoded.png"/>
          <p:cNvPicPr>
            <a:picLocks noChangeAspect="1"/>
          </p:cNvPicPr>
          <p:nvPr/>
        </p:nvPicPr>
        <p:blipFill>
          <a:blip r:embed="rId7"/>
          <a:stretch>
            <a:fillRect/>
          </a:stretch>
        </p:blipFill>
        <p:spPr>
          <a:xfrm>
            <a:off x="4739759" y="5272445"/>
            <a:ext cx="559237" cy="559237"/>
          </a:xfrm>
          <a:prstGeom prst="rect">
            <a:avLst/>
          </a:prstGeom>
        </p:spPr>
      </p:pic>
      <p:sp>
        <p:nvSpPr>
          <p:cNvPr id="17" name="Text 10"/>
          <p:cNvSpPr/>
          <p:nvPr/>
        </p:nvSpPr>
        <p:spPr>
          <a:xfrm>
            <a:off x="4739759" y="6055400"/>
            <a:ext cx="2796421" cy="349568"/>
          </a:xfrm>
          <a:prstGeom prst="rect">
            <a:avLst/>
          </a:prstGeom>
          <a:noFill/>
          <a:ln/>
        </p:spPr>
        <p:txBody>
          <a:bodyPr wrap="none" rtlCol="0" anchor="t"/>
          <a:lstStyle/>
          <a:p>
            <a:pPr marL="0" indent="0" algn="l">
              <a:lnSpc>
                <a:spcPts val="2752"/>
              </a:lnSpc>
              <a:buNone/>
            </a:pPr>
            <a:r>
              <a:rPr lang="en-US" sz="2202" dirty="0">
                <a:solidFill>
                  <a:srgbClr val="161613"/>
                </a:solidFill>
                <a:latin typeface="DM Sans" pitchFamily="34" charset="0"/>
                <a:ea typeface="DM Sans" pitchFamily="34" charset="-122"/>
                <a:cs typeface="DM Sans" pitchFamily="34" charset="-120"/>
              </a:rPr>
              <a:t>SQL Database</a:t>
            </a:r>
            <a:endParaRPr lang="en-US" sz="2202" dirty="0"/>
          </a:p>
        </p:txBody>
      </p:sp>
      <p:sp>
        <p:nvSpPr>
          <p:cNvPr id="18" name="Text 11"/>
          <p:cNvSpPr/>
          <p:nvPr/>
        </p:nvSpPr>
        <p:spPr>
          <a:xfrm>
            <a:off x="4739759" y="6539151"/>
            <a:ext cx="3621286" cy="1073706"/>
          </a:xfrm>
          <a:prstGeom prst="rect">
            <a:avLst/>
          </a:prstGeom>
          <a:noFill/>
          <a:ln/>
        </p:spPr>
        <p:txBody>
          <a:bodyPr wrap="square" rtlCol="0" anchor="t"/>
          <a:lstStyle/>
          <a:p>
            <a:pPr marL="0" indent="0" algn="l">
              <a:lnSpc>
                <a:spcPts val="2819"/>
              </a:lnSpc>
              <a:buNone/>
            </a:pPr>
            <a:r>
              <a:rPr lang="en-US" sz="1762" dirty="0">
                <a:solidFill>
                  <a:srgbClr val="161613"/>
                </a:solidFill>
                <a:latin typeface="Inter" pitchFamily="34" charset="0"/>
                <a:ea typeface="Inter" pitchFamily="34" charset="-122"/>
                <a:cs typeface="Inter" pitchFamily="34" charset="-120"/>
              </a:rPr>
              <a:t>Used for storing and managing user data, transactions, and other financial information.</a:t>
            </a:r>
            <a:endParaRPr lang="en-US" sz="1762" dirty="0"/>
          </a:p>
        </p:txBody>
      </p:sp>
      <p:pic>
        <p:nvPicPr>
          <p:cNvPr id="19" name="Picture 18">
            <a:extLst>
              <a:ext uri="{FF2B5EF4-FFF2-40B4-BE49-F238E27FC236}">
                <a16:creationId xmlns:a16="http://schemas.microsoft.com/office/drawing/2014/main" id="{E87D013A-97B5-D102-8C9D-FF2317F8FAB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20" name="Picture 19">
            <a:extLst>
              <a:ext uri="{FF2B5EF4-FFF2-40B4-BE49-F238E27FC236}">
                <a16:creationId xmlns:a16="http://schemas.microsoft.com/office/drawing/2014/main" id="{464F455E-9A94-D601-C0B7-2898A356E259}"/>
              </a:ext>
            </a:extLst>
          </p:cNvPr>
          <p:cNvPicPr>
            <a:picLocks noChangeAspect="1"/>
          </p:cNvPicPr>
          <p:nvPr/>
        </p:nvPicPr>
        <p:blipFill rotWithShape="1">
          <a:blip r:embed="rId9">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5" name="Text 2"/>
          <p:cNvSpPr/>
          <p:nvPr/>
        </p:nvSpPr>
        <p:spPr>
          <a:xfrm>
            <a:off x="6280190" y="1892141"/>
            <a:ext cx="5670590" cy="708779"/>
          </a:xfrm>
          <a:prstGeom prst="rect">
            <a:avLst/>
          </a:prstGeom>
          <a:noFill/>
          <a:ln/>
        </p:spPr>
        <p:txBody>
          <a:bodyPr wrap="none" rtlCol="0" anchor="t"/>
          <a:lstStyle/>
          <a:p>
            <a:pPr marL="0" indent="0">
              <a:lnSpc>
                <a:spcPts val="5581"/>
              </a:lnSpc>
              <a:buNone/>
            </a:pPr>
            <a:r>
              <a:rPr lang="en-US" sz="4465" b="1" dirty="0">
                <a:solidFill>
                  <a:srgbClr val="161613"/>
                </a:solidFill>
                <a:latin typeface="DM Sans" pitchFamily="34" charset="0"/>
                <a:ea typeface="DM Sans" pitchFamily="34" charset="-122"/>
                <a:cs typeface="DM Sans" pitchFamily="34" charset="-120"/>
              </a:rPr>
              <a:t>Real-life Uses:</a:t>
            </a:r>
            <a:endParaRPr lang="en-US" sz="4465" dirty="0"/>
          </a:p>
        </p:txBody>
      </p:sp>
      <p:sp>
        <p:nvSpPr>
          <p:cNvPr id="6" name="Text 3"/>
          <p:cNvSpPr/>
          <p:nvPr/>
        </p:nvSpPr>
        <p:spPr>
          <a:xfrm>
            <a:off x="6280190" y="2941082"/>
            <a:ext cx="7556421" cy="362903"/>
          </a:xfrm>
          <a:prstGeom prst="rect">
            <a:avLst/>
          </a:prstGeom>
          <a:noFill/>
          <a:ln/>
        </p:spPr>
        <p:txBody>
          <a:bodyPr wrap="none" rtlCol="0" anchor="t"/>
          <a:lstStyle/>
          <a:p>
            <a:pPr marL="0" indent="0">
              <a:lnSpc>
                <a:spcPts val="2858"/>
              </a:lnSpc>
              <a:buNone/>
            </a:pPr>
            <a:endParaRPr lang="en-US" sz="1786" dirty="0"/>
          </a:p>
        </p:txBody>
      </p:sp>
      <p:sp>
        <p:nvSpPr>
          <p:cNvPr id="7" name="Text 4"/>
          <p:cNvSpPr/>
          <p:nvPr/>
        </p:nvSpPr>
        <p:spPr>
          <a:xfrm>
            <a:off x="6643092" y="3559135"/>
            <a:ext cx="7193518" cy="725805"/>
          </a:xfrm>
          <a:prstGeom prst="rect">
            <a:avLst/>
          </a:prstGeom>
          <a:noFill/>
          <a:ln/>
        </p:spPr>
        <p:txBody>
          <a:bodyPr wrap="square" rtlCol="0" anchor="t"/>
          <a:lstStyle/>
          <a:p>
            <a:pPr marL="342900" indent="-342900" algn="l">
              <a:lnSpc>
                <a:spcPts val="2858"/>
              </a:lnSpc>
              <a:buSzPct val="100000"/>
              <a:buChar char="•"/>
            </a:pPr>
            <a:r>
              <a:rPr lang="en-US" sz="1786" b="1" dirty="0">
                <a:solidFill>
                  <a:srgbClr val="161613"/>
                </a:solidFill>
                <a:latin typeface="Inter" pitchFamily="34" charset="0"/>
                <a:ea typeface="Inter" pitchFamily="34" charset="-122"/>
                <a:cs typeface="Inter" pitchFamily="34" charset="-120"/>
              </a:rPr>
              <a:t>Personal Finance Management:</a:t>
            </a:r>
            <a:r>
              <a:rPr lang="en-US" sz="1786" dirty="0">
                <a:solidFill>
                  <a:srgbClr val="161613"/>
                </a:solidFill>
                <a:latin typeface="Inter" pitchFamily="34" charset="0"/>
                <a:ea typeface="Inter" pitchFamily="34" charset="-122"/>
                <a:cs typeface="Inter" pitchFamily="34" charset="-120"/>
              </a:rPr>
              <a:t> Helps individuals keep track of income and expenses.</a:t>
            </a:r>
            <a:endParaRPr lang="en-US" sz="1786" dirty="0"/>
          </a:p>
        </p:txBody>
      </p:sp>
      <p:sp>
        <p:nvSpPr>
          <p:cNvPr id="8" name="Text 5"/>
          <p:cNvSpPr/>
          <p:nvPr/>
        </p:nvSpPr>
        <p:spPr>
          <a:xfrm>
            <a:off x="6643092" y="4364236"/>
            <a:ext cx="7193518" cy="362903"/>
          </a:xfrm>
          <a:prstGeom prst="rect">
            <a:avLst/>
          </a:prstGeom>
          <a:noFill/>
          <a:ln/>
        </p:spPr>
        <p:txBody>
          <a:bodyPr wrap="none" rtlCol="0" anchor="t"/>
          <a:lstStyle/>
          <a:p>
            <a:pPr marL="342900" indent="-342900" algn="l">
              <a:lnSpc>
                <a:spcPts val="2858"/>
              </a:lnSpc>
              <a:buSzPct val="100000"/>
              <a:buChar char="•"/>
            </a:pPr>
            <a:r>
              <a:rPr lang="en-US" sz="1786" b="1" dirty="0">
                <a:solidFill>
                  <a:srgbClr val="161613"/>
                </a:solidFill>
                <a:latin typeface="Inter" pitchFamily="34" charset="0"/>
                <a:ea typeface="Inter" pitchFamily="34" charset="-122"/>
                <a:cs typeface="Inter" pitchFamily="34" charset="-120"/>
              </a:rPr>
              <a:t>Goal Setting:</a:t>
            </a:r>
            <a:r>
              <a:rPr lang="en-US" sz="1786" dirty="0">
                <a:solidFill>
                  <a:srgbClr val="161613"/>
                </a:solidFill>
                <a:latin typeface="Inter" pitchFamily="34" charset="0"/>
                <a:ea typeface="Inter" pitchFamily="34" charset="-122"/>
                <a:cs typeface="Inter" pitchFamily="34" charset="-120"/>
              </a:rPr>
              <a:t> Allows users to set and monitor financial goals.</a:t>
            </a:r>
            <a:endParaRPr lang="en-US" sz="1786" dirty="0"/>
          </a:p>
        </p:txBody>
      </p:sp>
      <p:sp>
        <p:nvSpPr>
          <p:cNvPr id="9" name="Text 6"/>
          <p:cNvSpPr/>
          <p:nvPr/>
        </p:nvSpPr>
        <p:spPr>
          <a:xfrm>
            <a:off x="6643092" y="4806434"/>
            <a:ext cx="7193518" cy="725805"/>
          </a:xfrm>
          <a:prstGeom prst="rect">
            <a:avLst/>
          </a:prstGeom>
          <a:noFill/>
          <a:ln/>
        </p:spPr>
        <p:txBody>
          <a:bodyPr wrap="square" rtlCol="0" anchor="t"/>
          <a:lstStyle/>
          <a:p>
            <a:pPr marL="342900" indent="-342900" algn="l">
              <a:lnSpc>
                <a:spcPts val="2858"/>
              </a:lnSpc>
              <a:buSzPct val="100000"/>
              <a:buChar char="•"/>
            </a:pPr>
            <a:r>
              <a:rPr lang="en-US" sz="1786" b="1" dirty="0">
                <a:solidFill>
                  <a:srgbClr val="161613"/>
                </a:solidFill>
                <a:latin typeface="Inter" pitchFamily="34" charset="0"/>
                <a:ea typeface="Inter" pitchFamily="34" charset="-122"/>
                <a:cs typeface="Inter" pitchFamily="34" charset="-120"/>
              </a:rPr>
              <a:t>Transaction Tracking:</a:t>
            </a:r>
            <a:r>
              <a:rPr lang="en-US" sz="1786" dirty="0">
                <a:solidFill>
                  <a:srgbClr val="161613"/>
                </a:solidFill>
                <a:latin typeface="Inter" pitchFamily="34" charset="0"/>
                <a:ea typeface="Inter" pitchFamily="34" charset="-122"/>
                <a:cs typeface="Inter" pitchFamily="34" charset="-120"/>
              </a:rPr>
              <a:t> Provides a history of financial transactions for better budgeting.</a:t>
            </a:r>
            <a:endParaRPr lang="en-US" sz="1786" dirty="0"/>
          </a:p>
        </p:txBody>
      </p:sp>
      <p:sp>
        <p:nvSpPr>
          <p:cNvPr id="10" name="Text 7"/>
          <p:cNvSpPr/>
          <p:nvPr/>
        </p:nvSpPr>
        <p:spPr>
          <a:xfrm>
            <a:off x="6643092" y="5611535"/>
            <a:ext cx="7193518" cy="725805"/>
          </a:xfrm>
          <a:prstGeom prst="rect">
            <a:avLst/>
          </a:prstGeom>
          <a:noFill/>
          <a:ln/>
        </p:spPr>
        <p:txBody>
          <a:bodyPr wrap="square" rtlCol="0" anchor="t"/>
          <a:lstStyle/>
          <a:p>
            <a:pPr marL="342900" indent="-342900" algn="l">
              <a:lnSpc>
                <a:spcPts val="2858"/>
              </a:lnSpc>
              <a:buSzPct val="100000"/>
              <a:buChar char="•"/>
            </a:pPr>
            <a:r>
              <a:rPr lang="en-US" sz="1786" b="1" dirty="0">
                <a:solidFill>
                  <a:srgbClr val="161613"/>
                </a:solidFill>
                <a:latin typeface="Inter" pitchFamily="34" charset="0"/>
                <a:ea typeface="Inter" pitchFamily="34" charset="-122"/>
                <a:cs typeface="Inter" pitchFamily="34" charset="-120"/>
              </a:rPr>
              <a:t>Financial Planning:</a:t>
            </a:r>
            <a:r>
              <a:rPr lang="en-US" sz="1786" dirty="0">
                <a:solidFill>
                  <a:srgbClr val="161613"/>
                </a:solidFill>
                <a:latin typeface="Inter" pitchFamily="34" charset="0"/>
                <a:ea typeface="Inter" pitchFamily="34" charset="-122"/>
                <a:cs typeface="Inter" pitchFamily="34" charset="-120"/>
              </a:rPr>
              <a:t> Assists users in planning and achieving their financial objectives.</a:t>
            </a:r>
            <a:endParaRPr lang="en-US" sz="1786" dirty="0"/>
          </a:p>
        </p:txBody>
      </p:sp>
      <p:pic>
        <p:nvPicPr>
          <p:cNvPr id="11" name="Picture 10">
            <a:extLst>
              <a:ext uri="{FF2B5EF4-FFF2-40B4-BE49-F238E27FC236}">
                <a16:creationId xmlns:a16="http://schemas.microsoft.com/office/drawing/2014/main" id="{0B958B3C-E799-377E-2320-0CA7E8FC1E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12" name="Picture 11">
            <a:extLst>
              <a:ext uri="{FF2B5EF4-FFF2-40B4-BE49-F238E27FC236}">
                <a16:creationId xmlns:a16="http://schemas.microsoft.com/office/drawing/2014/main" id="{2CA5A489-CF2C-D970-56C0-F940406FE58A}"/>
              </a:ext>
            </a:extLst>
          </p:cNvPr>
          <p:cNvPicPr>
            <a:picLocks noChangeAspect="1"/>
          </p:cNvPicPr>
          <p:nvPr/>
        </p:nvPicPr>
        <p:blipFill rotWithShape="1">
          <a:blip r:embed="rId5">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sp>
        <p:nvSpPr>
          <p:cNvPr id="4" name="Text 2"/>
          <p:cNvSpPr/>
          <p:nvPr/>
        </p:nvSpPr>
        <p:spPr>
          <a:xfrm>
            <a:off x="793790" y="1492329"/>
            <a:ext cx="13042821" cy="362903"/>
          </a:xfrm>
          <a:prstGeom prst="rect">
            <a:avLst/>
          </a:prstGeom>
          <a:noFill/>
          <a:ln/>
        </p:spPr>
        <p:txBody>
          <a:bodyPr wrap="none" rtlCol="0" anchor="t"/>
          <a:lstStyle/>
          <a:p>
            <a:pPr marL="0" indent="0">
              <a:lnSpc>
                <a:spcPts val="2858"/>
              </a:lnSpc>
              <a:buNone/>
            </a:pPr>
            <a:endParaRPr lang="en-US" sz="1786" dirty="0"/>
          </a:p>
        </p:txBody>
      </p:sp>
      <p:sp>
        <p:nvSpPr>
          <p:cNvPr id="5" name="Text 3"/>
          <p:cNvSpPr/>
          <p:nvPr/>
        </p:nvSpPr>
        <p:spPr>
          <a:xfrm>
            <a:off x="793790" y="2110383"/>
            <a:ext cx="13042821" cy="362903"/>
          </a:xfrm>
          <a:prstGeom prst="rect">
            <a:avLst/>
          </a:prstGeom>
          <a:noFill/>
          <a:ln/>
        </p:spPr>
        <p:txBody>
          <a:bodyPr wrap="none" rtlCol="0" anchor="t"/>
          <a:lstStyle/>
          <a:p>
            <a:pPr marL="0" indent="0">
              <a:lnSpc>
                <a:spcPts val="2858"/>
              </a:lnSpc>
              <a:buNone/>
            </a:pPr>
            <a:endParaRPr lang="en-US" sz="1786" dirty="0"/>
          </a:p>
        </p:txBody>
      </p:sp>
      <p:sp>
        <p:nvSpPr>
          <p:cNvPr id="6" name="Text 4"/>
          <p:cNvSpPr/>
          <p:nvPr/>
        </p:nvSpPr>
        <p:spPr>
          <a:xfrm>
            <a:off x="4479846" y="2813447"/>
            <a:ext cx="5670590" cy="708779"/>
          </a:xfrm>
          <a:prstGeom prst="rect">
            <a:avLst/>
          </a:prstGeom>
          <a:noFill/>
          <a:ln/>
        </p:spPr>
        <p:txBody>
          <a:bodyPr wrap="none" rtlCol="0" anchor="t"/>
          <a:lstStyle/>
          <a:p>
            <a:pPr marL="0" indent="0" algn="ctr">
              <a:lnSpc>
                <a:spcPts val="5581"/>
              </a:lnSpc>
              <a:buNone/>
            </a:pPr>
            <a:r>
              <a:rPr lang="en-US" sz="4465" dirty="0">
                <a:solidFill>
                  <a:srgbClr val="161613"/>
                </a:solidFill>
                <a:latin typeface="DM Sans" pitchFamily="34" charset="0"/>
                <a:ea typeface="DM Sans" pitchFamily="34" charset="-122"/>
                <a:cs typeface="DM Sans" pitchFamily="34" charset="-120"/>
              </a:rPr>
              <a:t>Thank You !</a:t>
            </a:r>
            <a:endParaRPr lang="en-US" sz="4465" dirty="0"/>
          </a:p>
        </p:txBody>
      </p:sp>
      <p:sp>
        <p:nvSpPr>
          <p:cNvPr id="7" name="Text 5"/>
          <p:cNvSpPr/>
          <p:nvPr/>
        </p:nvSpPr>
        <p:spPr>
          <a:xfrm>
            <a:off x="4479846" y="3862388"/>
            <a:ext cx="5670590" cy="708779"/>
          </a:xfrm>
          <a:prstGeom prst="rect">
            <a:avLst/>
          </a:prstGeom>
          <a:noFill/>
          <a:ln/>
        </p:spPr>
        <p:txBody>
          <a:bodyPr wrap="none" rtlCol="0" anchor="t"/>
          <a:lstStyle/>
          <a:p>
            <a:pPr marL="0" indent="0" algn="ctr">
              <a:lnSpc>
                <a:spcPts val="5581"/>
              </a:lnSpc>
              <a:buNone/>
            </a:pPr>
            <a:r>
              <a:rPr lang="en-US" sz="4465" dirty="0">
                <a:solidFill>
                  <a:srgbClr val="161613"/>
                </a:solidFill>
                <a:latin typeface="DM Sans" pitchFamily="34" charset="0"/>
                <a:ea typeface="DM Sans" pitchFamily="34" charset="-122"/>
                <a:cs typeface="DM Sans" pitchFamily="34" charset="-120"/>
              </a:rPr>
              <a:t>For Give your </a:t>
            </a:r>
            <a:endParaRPr lang="en-US" sz="4465" dirty="0"/>
          </a:p>
        </p:txBody>
      </p:sp>
      <p:sp>
        <p:nvSpPr>
          <p:cNvPr id="8" name="Text 6"/>
          <p:cNvSpPr/>
          <p:nvPr/>
        </p:nvSpPr>
        <p:spPr>
          <a:xfrm>
            <a:off x="4479846" y="4911328"/>
            <a:ext cx="5670590" cy="708779"/>
          </a:xfrm>
          <a:prstGeom prst="rect">
            <a:avLst/>
          </a:prstGeom>
          <a:noFill/>
          <a:ln/>
        </p:spPr>
        <p:txBody>
          <a:bodyPr wrap="none" rtlCol="0" anchor="t"/>
          <a:lstStyle/>
          <a:p>
            <a:pPr marL="0" indent="0" algn="ctr">
              <a:lnSpc>
                <a:spcPts val="5581"/>
              </a:lnSpc>
              <a:buNone/>
            </a:pPr>
            <a:r>
              <a:rPr lang="en-US" sz="4465" dirty="0">
                <a:solidFill>
                  <a:srgbClr val="161613"/>
                </a:solidFill>
                <a:latin typeface="DM Sans" pitchFamily="34" charset="0"/>
                <a:ea typeface="DM Sans" pitchFamily="34" charset="-122"/>
                <a:cs typeface="DM Sans" pitchFamily="34" charset="-120"/>
              </a:rPr>
              <a:t>Special Time</a:t>
            </a:r>
            <a:endParaRPr lang="en-US" sz="4465" dirty="0"/>
          </a:p>
        </p:txBody>
      </p:sp>
      <p:sp>
        <p:nvSpPr>
          <p:cNvPr id="9" name="Text 7"/>
          <p:cNvSpPr/>
          <p:nvPr/>
        </p:nvSpPr>
        <p:spPr>
          <a:xfrm>
            <a:off x="793790" y="5960269"/>
            <a:ext cx="13042821" cy="362903"/>
          </a:xfrm>
          <a:prstGeom prst="rect">
            <a:avLst/>
          </a:prstGeom>
          <a:noFill/>
          <a:ln/>
        </p:spPr>
        <p:txBody>
          <a:bodyPr wrap="none" rtlCol="0" anchor="t"/>
          <a:lstStyle/>
          <a:p>
            <a:pPr marL="0" indent="0" algn="ctr">
              <a:lnSpc>
                <a:spcPts val="2858"/>
              </a:lnSpc>
              <a:buNone/>
            </a:pPr>
            <a:endParaRPr lang="en-US" sz="1786" dirty="0"/>
          </a:p>
        </p:txBody>
      </p:sp>
      <p:sp>
        <p:nvSpPr>
          <p:cNvPr id="10" name="Text 8"/>
          <p:cNvSpPr/>
          <p:nvPr/>
        </p:nvSpPr>
        <p:spPr>
          <a:xfrm>
            <a:off x="793790" y="6578322"/>
            <a:ext cx="13042821" cy="362903"/>
          </a:xfrm>
          <a:prstGeom prst="rect">
            <a:avLst/>
          </a:prstGeom>
          <a:noFill/>
          <a:ln/>
        </p:spPr>
        <p:txBody>
          <a:bodyPr wrap="none" rtlCol="0" anchor="t"/>
          <a:lstStyle/>
          <a:p>
            <a:pPr marL="0" indent="0" algn="ctr">
              <a:lnSpc>
                <a:spcPts val="2858"/>
              </a:lnSpc>
              <a:buNone/>
            </a:pPr>
            <a:endParaRPr lang="en-US" sz="1786" dirty="0"/>
          </a:p>
        </p:txBody>
      </p:sp>
      <p:pic>
        <p:nvPicPr>
          <p:cNvPr id="11" name="Picture 10">
            <a:extLst>
              <a:ext uri="{FF2B5EF4-FFF2-40B4-BE49-F238E27FC236}">
                <a16:creationId xmlns:a16="http://schemas.microsoft.com/office/drawing/2014/main" id="{7611A369-2E91-52CC-71C6-479431EACB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0" y="5214"/>
            <a:ext cx="741512" cy="776377"/>
          </a:xfrm>
          <a:prstGeom prst="rect">
            <a:avLst/>
          </a:prstGeom>
        </p:spPr>
      </p:pic>
      <p:pic>
        <p:nvPicPr>
          <p:cNvPr id="12" name="Picture 11">
            <a:extLst>
              <a:ext uri="{FF2B5EF4-FFF2-40B4-BE49-F238E27FC236}">
                <a16:creationId xmlns:a16="http://schemas.microsoft.com/office/drawing/2014/main" id="{FC6B3E59-ABB9-BDB8-AE84-9EFE97B82A9A}"/>
              </a:ext>
            </a:extLst>
          </p:cNvPr>
          <p:cNvPicPr>
            <a:picLocks noChangeAspect="1"/>
          </p:cNvPicPr>
          <p:nvPr/>
        </p:nvPicPr>
        <p:blipFill rotWithShape="1">
          <a:blip r:embed="rId4">
            <a:extLst>
              <a:ext uri="{28A0092B-C50C-407E-A947-70E740481C1C}">
                <a14:useLocalDpi xmlns:a14="http://schemas.microsoft.com/office/drawing/2010/main" val="0"/>
              </a:ext>
            </a:extLst>
          </a:blip>
          <a:srcRect l="25791" t="16832" b="13861"/>
          <a:stretch/>
        </p:blipFill>
        <p:spPr>
          <a:xfrm>
            <a:off x="11477882" y="0"/>
            <a:ext cx="3152518" cy="60384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731</Words>
  <Application>Microsoft Office PowerPoint</Application>
  <PresentationFormat>Custom</PresentationFormat>
  <Paragraphs>103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DM Sans</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Namra Patel</cp:lastModifiedBy>
  <cp:revision>6</cp:revision>
  <dcterms:created xsi:type="dcterms:W3CDTF">2024-08-27T17:03:32Z</dcterms:created>
  <dcterms:modified xsi:type="dcterms:W3CDTF">2024-08-27T20:24:36Z</dcterms:modified>
</cp:coreProperties>
</file>